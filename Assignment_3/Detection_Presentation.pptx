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7"/>
  </p:notesMasterIdLst>
  <p:sldIdLst>
    <p:sldId id="264" r:id="rId2"/>
    <p:sldId id="261" r:id="rId3"/>
    <p:sldId id="265" r:id="rId4"/>
    <p:sldId id="263" r:id="rId5"/>
    <p:sldId id="262" r:id="rId6"/>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04" d="100"/>
          <a:sy n="204" d="100"/>
        </p:scale>
        <p:origin x="5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4262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F8584-91AF-6D2A-0A37-A3FB5B3069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52564-E844-D874-5E10-ACFF53AF6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F1C899-068B-5638-9E6C-A96B6F5CEB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1D0B39-E6B9-8FF0-5AF1-AD64F043F9B2}"/>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014782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CDF66-8614-D619-A6E6-4248F6140D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617A1F-09E4-39FA-547B-A25807152B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DB5A6-47BF-46DD-3E25-0C74F67F4D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0F99AD-CD7A-4668-F5E9-C8FD9987A1BA}"/>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649880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2FAF9-9976-E694-D107-E9FE838665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2A8D99-FD38-6DD7-4291-E9B3ADF1EA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148841-18F5-EB52-7C77-406013D6FF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F4EA73-E3FD-1BB1-8FA2-93540D6BE445}"/>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913670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D451-1C3D-3CED-6FB5-B549252F92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1C4AF-3332-F893-7EA7-2A2C26D162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6ABE64-62C8-BAB9-434A-F3C9C1880D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758F2A-4DA9-A560-E441-633ED53E084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09220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9543D-F7ED-6339-2D7D-4C175FD72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C97C40-A22A-621D-F9DE-A87663841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D0846D-B5D0-3865-5544-24942817DA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CAA9C-7EB9-D7A5-2F23-455D9545A13E}"/>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376549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Otsikkodia">
    <p:spTree>
      <p:nvGrpSpPr>
        <p:cNvPr id="1" name=""/>
        <p:cNvGrpSpPr/>
        <p:nvPr/>
      </p:nvGrpSpPr>
      <p:grpSpPr>
        <a:xfrm>
          <a:off x="0" y="0"/>
          <a:ext cx="0" cy="0"/>
          <a:chOff x="0" y="0"/>
          <a:chExt cx="0" cy="0"/>
        </a:xfrm>
      </p:grpSpPr>
      <p:sp>
        <p:nvSpPr>
          <p:cNvPr id="2" name="Title 1"/>
          <p:cNvSpPr>
            <a:spLocks noGrp="1"/>
          </p:cNvSpPr>
          <p:nvPr>
            <p:ph type="ctrTitle"/>
          </p:nvPr>
        </p:nvSpPr>
        <p:spPr>
          <a:xfrm>
            <a:off x="513159" y="514350"/>
            <a:ext cx="6000750" cy="2228851"/>
          </a:xfrm>
        </p:spPr>
        <p:txBody>
          <a:bodyPr anchor="b">
            <a:normAutofit/>
          </a:bodyPr>
          <a:lstStyle>
            <a:lvl1pPr algn="l">
              <a:defRPr sz="3600">
                <a:effectLst/>
              </a:defRPr>
            </a:lvl1pPr>
          </a:lstStyle>
          <a:p>
            <a:r>
              <a:rPr lang="fi-FI"/>
              <a:t>Muokkaa ots. perustyyl. napsautt.</a:t>
            </a:r>
            <a:endParaRPr lang="en-US" dirty="0"/>
          </a:p>
        </p:txBody>
      </p:sp>
      <p:sp>
        <p:nvSpPr>
          <p:cNvPr id="3" name="Subtitle 2"/>
          <p:cNvSpPr>
            <a:spLocks noGrp="1"/>
          </p:cNvSpPr>
          <p:nvPr>
            <p:ph type="subTitle" idx="1"/>
          </p:nvPr>
        </p:nvSpPr>
        <p:spPr>
          <a:xfrm>
            <a:off x="513159" y="2882900"/>
            <a:ext cx="4800600" cy="1460500"/>
          </a:xfrm>
        </p:spPr>
        <p:txBody>
          <a:bodyPr anchor="t">
            <a:normAutofit/>
          </a:bodyPr>
          <a:lstStyle>
            <a:lvl1pPr marL="0" indent="0" algn="l">
              <a:buNone/>
              <a:defRPr sz="1575">
                <a:solidFill>
                  <a:schemeClr val="bg2">
                    <a:lumMod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fi-FI"/>
              <a:t>Muokkaa alaotsikon perustyyliä napsautt.</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6171009" y="6350"/>
            <a:ext cx="2857500" cy="28575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4581128" y="68659"/>
            <a:ext cx="4560491" cy="456049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5426869" y="171450"/>
            <a:ext cx="3714750" cy="37147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501878" y="24209"/>
            <a:ext cx="3639742" cy="363974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884070" y="457201"/>
            <a:ext cx="3257549" cy="325754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469312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Otsikko ja sisält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a:t>Muokkaa ots. perustyyl. napsautt.</a:t>
            </a:r>
            <a:endParaRPr lang="en-US" dirty="0"/>
          </a:p>
        </p:txBody>
      </p:sp>
      <p:sp>
        <p:nvSpPr>
          <p:cNvPr id="3" name="Content Placeholder 2"/>
          <p:cNvSpPr>
            <a:spLocks noGrp="1"/>
          </p:cNvSpPr>
          <p:nvPr>
            <p:ph idx="1"/>
          </p:nvPr>
        </p:nvSpPr>
        <p:spPr/>
        <p:txBody>
          <a:bodyPr anchor="ct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6913807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Osan ylätunniste">
    <p:spTree>
      <p:nvGrpSpPr>
        <p:cNvPr id="1" name=""/>
        <p:cNvGrpSpPr/>
        <p:nvPr/>
      </p:nvGrpSpPr>
      <p:grpSpPr>
        <a:xfrm>
          <a:off x="0" y="0"/>
          <a:ext cx="0" cy="0"/>
          <a:chOff x="0" y="0"/>
          <a:chExt cx="0" cy="0"/>
        </a:xfrm>
      </p:grpSpPr>
      <p:sp>
        <p:nvSpPr>
          <p:cNvPr id="2" name="Title 1"/>
          <p:cNvSpPr>
            <a:spLocks noGrp="1"/>
          </p:cNvSpPr>
          <p:nvPr>
            <p:ph type="title"/>
          </p:nvPr>
        </p:nvSpPr>
        <p:spPr>
          <a:xfrm>
            <a:off x="513159" y="1504950"/>
            <a:ext cx="6400801" cy="1711200"/>
          </a:xfrm>
        </p:spPr>
        <p:txBody>
          <a:bodyPr anchor="b">
            <a:normAutofit/>
          </a:bodyPr>
          <a:lstStyle>
            <a:lvl1pPr algn="l">
              <a:defRPr sz="2700" b="0" cap="all"/>
            </a:lvl1pPr>
          </a:lstStyle>
          <a:p>
            <a:r>
              <a:rPr lang="fi-FI"/>
              <a:t>Muokkaa ots. perustyyl. napsautt.</a:t>
            </a:r>
            <a:endParaRPr lang="en-US" dirty="0"/>
          </a:p>
        </p:txBody>
      </p:sp>
      <p:sp>
        <p:nvSpPr>
          <p:cNvPr id="3" name="Text Placeholder 2"/>
          <p:cNvSpPr>
            <a:spLocks noGrp="1"/>
          </p:cNvSpPr>
          <p:nvPr>
            <p:ph type="body" idx="1"/>
          </p:nvPr>
        </p:nvSpPr>
        <p:spPr>
          <a:xfrm>
            <a:off x="513160" y="3371850"/>
            <a:ext cx="6400800" cy="11239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i-FI"/>
              <a:t>Muokkaa tekstin perustyylejä napsauttamalla</a:t>
            </a:r>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436630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Kaksi sisältökohdett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a:t>Muokkaa ots. perustyyl. napsautt.</a:t>
            </a:r>
            <a:endParaRPr lang="en-US" dirty="0"/>
          </a:p>
        </p:txBody>
      </p:sp>
      <p:sp>
        <p:nvSpPr>
          <p:cNvPr id="3" name="Content Placeholder 2"/>
          <p:cNvSpPr>
            <a:spLocks noGrp="1"/>
          </p:cNvSpPr>
          <p:nvPr>
            <p:ph sz="half" idx="1"/>
          </p:nvPr>
        </p:nvSpPr>
        <p:spPr>
          <a:xfrm>
            <a:off x="513159" y="514351"/>
            <a:ext cx="3703241" cy="2711450"/>
          </a:xfrm>
        </p:spPr>
        <p:txBody>
          <a:bodyPr>
            <a:normAutofit/>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dirty="0"/>
          </a:p>
        </p:txBody>
      </p:sp>
      <p:sp>
        <p:nvSpPr>
          <p:cNvPr id="4" name="Content Placeholder 3"/>
          <p:cNvSpPr>
            <a:spLocks noGrp="1"/>
          </p:cNvSpPr>
          <p:nvPr>
            <p:ph sz="half" idx="2"/>
          </p:nvPr>
        </p:nvSpPr>
        <p:spPr>
          <a:xfrm>
            <a:off x="4356100" y="514351"/>
            <a:ext cx="3700859" cy="2711450"/>
          </a:xfrm>
        </p:spPr>
        <p:txBody>
          <a:bodyPr>
            <a:normAutofit/>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4705902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tail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i-FI"/>
              <a:t>Muokkaa ots. perustyyl. napsautt.</a:t>
            </a:r>
            <a:endParaRPr lang="en-US" dirty="0"/>
          </a:p>
        </p:txBody>
      </p:sp>
      <p:sp>
        <p:nvSpPr>
          <p:cNvPr id="3" name="Text Placeholder 2"/>
          <p:cNvSpPr>
            <a:spLocks noGrp="1"/>
          </p:cNvSpPr>
          <p:nvPr>
            <p:ph type="body" idx="1"/>
          </p:nvPr>
        </p:nvSpPr>
        <p:spPr>
          <a:xfrm>
            <a:off x="729061" y="514350"/>
            <a:ext cx="3487340"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i-FI"/>
              <a:t>Muokkaa tekstin perustyylejä napsauttamalla</a:t>
            </a:r>
          </a:p>
        </p:txBody>
      </p:sp>
      <p:sp>
        <p:nvSpPr>
          <p:cNvPr id="4" name="Content Placeholder 3"/>
          <p:cNvSpPr>
            <a:spLocks noGrp="1"/>
          </p:cNvSpPr>
          <p:nvPr>
            <p:ph sz="half" idx="2"/>
          </p:nvPr>
        </p:nvSpPr>
        <p:spPr>
          <a:xfrm>
            <a:off x="513159" y="952897"/>
            <a:ext cx="3703241" cy="2272904"/>
          </a:xfrm>
        </p:spPr>
        <p:txBody>
          <a:bodyPr anchor="t">
            <a:normAutofit/>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dirty="0"/>
          </a:p>
        </p:txBody>
      </p:sp>
      <p:sp>
        <p:nvSpPr>
          <p:cNvPr id="5" name="Text Placeholder 4"/>
          <p:cNvSpPr>
            <a:spLocks noGrp="1"/>
          </p:cNvSpPr>
          <p:nvPr>
            <p:ph type="body" sz="quarter" idx="3"/>
          </p:nvPr>
        </p:nvSpPr>
        <p:spPr>
          <a:xfrm>
            <a:off x="4559299" y="514350"/>
            <a:ext cx="3498851"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i-FI"/>
              <a:t>Muokkaa tekstin perustyylejä napsauttamalla</a:t>
            </a:r>
          </a:p>
        </p:txBody>
      </p:sp>
      <p:sp>
        <p:nvSpPr>
          <p:cNvPr id="6" name="Content Placeholder 5"/>
          <p:cNvSpPr>
            <a:spLocks noGrp="1"/>
          </p:cNvSpPr>
          <p:nvPr>
            <p:ph sz="quarter" idx="4"/>
          </p:nvPr>
        </p:nvSpPr>
        <p:spPr>
          <a:xfrm>
            <a:off x="4354909" y="946546"/>
            <a:ext cx="3696891" cy="2272904"/>
          </a:xfrm>
        </p:spPr>
        <p:txBody>
          <a:bodyPr anchor="t">
            <a:normAutofit/>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8056054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Vain otsikk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a:t>Muokkaa ots. perustyyl. napsautt.</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3037691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yhjä">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7382419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Kuvatekstillinen sisältö">
    <p:spTree>
      <p:nvGrpSpPr>
        <p:cNvPr id="1" name=""/>
        <p:cNvGrpSpPr/>
        <p:nvPr/>
      </p:nvGrpSpPr>
      <p:grpSpPr>
        <a:xfrm>
          <a:off x="0" y="0"/>
          <a:ext cx="0" cy="0"/>
          <a:chOff x="0" y="0"/>
          <a:chExt cx="0" cy="0"/>
        </a:xfrm>
      </p:grpSpPr>
      <p:sp>
        <p:nvSpPr>
          <p:cNvPr id="2" name="Title 1"/>
          <p:cNvSpPr>
            <a:spLocks noGrp="1"/>
          </p:cNvSpPr>
          <p:nvPr>
            <p:ph type="title"/>
          </p:nvPr>
        </p:nvSpPr>
        <p:spPr>
          <a:xfrm>
            <a:off x="5313759" y="514350"/>
            <a:ext cx="2743200" cy="1028700"/>
          </a:xfrm>
        </p:spPr>
        <p:txBody>
          <a:bodyPr anchor="b">
            <a:normAutofit/>
          </a:bodyPr>
          <a:lstStyle>
            <a:lvl1pPr algn="l">
              <a:defRPr sz="1800" b="0"/>
            </a:lvl1pPr>
          </a:lstStyle>
          <a:p>
            <a:r>
              <a:rPr lang="fi-FI"/>
              <a:t>Muokkaa ots. perustyyl. napsautt.</a:t>
            </a:r>
            <a:endParaRPr lang="en-US" dirty="0"/>
          </a:p>
        </p:txBody>
      </p:sp>
      <p:sp>
        <p:nvSpPr>
          <p:cNvPr id="3" name="Content Placeholder 2"/>
          <p:cNvSpPr>
            <a:spLocks noGrp="1"/>
          </p:cNvSpPr>
          <p:nvPr>
            <p:ph idx="1"/>
          </p:nvPr>
        </p:nvSpPr>
        <p:spPr>
          <a:xfrm>
            <a:off x="513159" y="514350"/>
            <a:ext cx="4457701" cy="3981450"/>
          </a:xfrm>
        </p:spPr>
        <p:txBody>
          <a:bodyPr anchor="ctr">
            <a:normAutofit/>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dirty="0"/>
          </a:p>
        </p:txBody>
      </p:sp>
      <p:sp>
        <p:nvSpPr>
          <p:cNvPr id="4" name="Text Placeholder 3"/>
          <p:cNvSpPr>
            <a:spLocks noGrp="1"/>
          </p:cNvSpPr>
          <p:nvPr>
            <p:ph type="body" sz="half" idx="2"/>
          </p:nvPr>
        </p:nvSpPr>
        <p:spPr>
          <a:xfrm>
            <a:off x="5313759" y="1657350"/>
            <a:ext cx="2743200" cy="156845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i-FI"/>
              <a:t>Muokkaa tekstin perustyylejä napsauttamalla</a:t>
            </a:r>
          </a:p>
        </p:txBody>
      </p:sp>
      <p:sp>
        <p:nvSpPr>
          <p:cNvPr id="5" name="Date Placeholder 4"/>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2254682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uvatekstillinen kuva">
    <p:spTree>
      <p:nvGrpSpPr>
        <p:cNvPr id="1" name=""/>
        <p:cNvGrpSpPr/>
        <p:nvPr/>
      </p:nvGrpSpPr>
      <p:grpSpPr>
        <a:xfrm>
          <a:off x="0" y="0"/>
          <a:ext cx="0" cy="0"/>
          <a:chOff x="0" y="0"/>
          <a:chExt cx="0" cy="0"/>
        </a:xfrm>
      </p:grpSpPr>
      <p:sp>
        <p:nvSpPr>
          <p:cNvPr id="2" name="Title 1"/>
          <p:cNvSpPr>
            <a:spLocks noGrp="1"/>
          </p:cNvSpPr>
          <p:nvPr>
            <p:ph type="title"/>
          </p:nvPr>
        </p:nvSpPr>
        <p:spPr>
          <a:xfrm>
            <a:off x="3542109" y="1085850"/>
            <a:ext cx="4514850" cy="857250"/>
          </a:xfrm>
        </p:spPr>
        <p:txBody>
          <a:bodyPr anchor="b">
            <a:normAutofit/>
          </a:bodyPr>
          <a:lstStyle>
            <a:lvl1pPr algn="l">
              <a:defRPr sz="2100" b="0"/>
            </a:lvl1pPr>
          </a:lstStyle>
          <a:p>
            <a:r>
              <a:rPr lang="fi-FI"/>
              <a:t>Muokkaa ots. perustyyl. napsautt.</a:t>
            </a:r>
            <a:endParaRPr lang="en-US" dirty="0"/>
          </a:p>
        </p:txBody>
      </p:sp>
      <p:sp>
        <p:nvSpPr>
          <p:cNvPr id="14" name="Picture Placeholder 2"/>
          <p:cNvSpPr>
            <a:spLocks noGrp="1" noChangeAspect="1"/>
          </p:cNvSpPr>
          <p:nvPr>
            <p:ph type="pic" idx="1"/>
          </p:nvPr>
        </p:nvSpPr>
        <p:spPr>
          <a:xfrm>
            <a:off x="741759" y="685800"/>
            <a:ext cx="2460731" cy="3429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i-FI"/>
              <a:t>Lisää kuva napsauttamalla kuvaketta</a:t>
            </a:r>
            <a:endParaRPr lang="en-US" dirty="0"/>
          </a:p>
        </p:txBody>
      </p:sp>
      <p:sp>
        <p:nvSpPr>
          <p:cNvPr id="4" name="Text Placeholder 3"/>
          <p:cNvSpPr>
            <a:spLocks noGrp="1"/>
          </p:cNvSpPr>
          <p:nvPr>
            <p:ph type="body" sz="half" idx="2"/>
          </p:nvPr>
        </p:nvSpPr>
        <p:spPr>
          <a:xfrm>
            <a:off x="3542109" y="2082800"/>
            <a:ext cx="4516041" cy="15367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i-FI"/>
              <a:t>Muokkaa tekstin perustyylejä napsauttamalla</a:t>
            </a:r>
          </a:p>
        </p:txBody>
      </p:sp>
      <p:sp>
        <p:nvSpPr>
          <p:cNvPr id="5" name="Date Placeholder 4"/>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7979628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amakuva ja kuvateks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a:t>Muokkaa ots. perustyyl. napsautt.</a:t>
            </a:r>
            <a:endParaRPr lang="en-US" dirty="0"/>
          </a:p>
        </p:txBody>
      </p:sp>
      <p:sp>
        <p:nvSpPr>
          <p:cNvPr id="17" name="Picture Placeholder 2"/>
          <p:cNvSpPr>
            <a:spLocks noGrp="1" noChangeAspect="1"/>
          </p:cNvSpPr>
          <p:nvPr>
            <p:ph type="pic" idx="13"/>
          </p:nvPr>
        </p:nvSpPr>
        <p:spPr>
          <a:xfrm>
            <a:off x="514350" y="400050"/>
            <a:ext cx="8114109" cy="234315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i-FI"/>
              <a:t>Lisää kuva napsauttamalla kuvaketta</a:t>
            </a:r>
            <a:endParaRPr lang="en-US" dirty="0"/>
          </a:p>
        </p:txBody>
      </p:sp>
      <p:sp>
        <p:nvSpPr>
          <p:cNvPr id="16" name="Text Placeholder 9"/>
          <p:cNvSpPr>
            <a:spLocks noGrp="1"/>
          </p:cNvSpPr>
          <p:nvPr>
            <p:ph type="body" sz="quarter" idx="14"/>
          </p:nvPr>
        </p:nvSpPr>
        <p:spPr>
          <a:xfrm>
            <a:off x="685801" y="2882900"/>
            <a:ext cx="6228158" cy="342900"/>
          </a:xfrm>
        </p:spPr>
        <p:txBody>
          <a:bodyPr anchor="t">
            <a:normAutofit/>
          </a:bodyPr>
          <a:lstStyle>
            <a:lvl1pPr marL="0" indent="0">
              <a:buFontTx/>
              <a:buNone/>
              <a:defRPr sz="12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fi-FI"/>
              <a:t>Muokkaa tekstin perustyylejä napsauttamalla</a:t>
            </a:r>
          </a:p>
        </p:txBody>
      </p:sp>
      <p:sp>
        <p:nvSpPr>
          <p:cNvPr id="3" name="Date Placeholder 2"/>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6575116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tsikko ja kuvateksti">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anchor="ctr">
            <a:normAutofit/>
          </a:bodyPr>
          <a:lstStyle>
            <a:lvl1pPr algn="l">
              <a:defRPr sz="2400" b="0" cap="all"/>
            </a:lvl1pPr>
          </a:lstStyle>
          <a:p>
            <a:r>
              <a:rPr lang="fi-FI"/>
              <a:t>Muokkaa ots. perustyyl. napsautt.</a:t>
            </a:r>
            <a:endParaRPr lang="en-US" dirty="0"/>
          </a:p>
        </p:txBody>
      </p:sp>
      <p:sp>
        <p:nvSpPr>
          <p:cNvPr id="3" name="Text Placeholder 2"/>
          <p:cNvSpPr>
            <a:spLocks noGrp="1"/>
          </p:cNvSpPr>
          <p:nvPr>
            <p:ph type="body" idx="1"/>
          </p:nvPr>
        </p:nvSpPr>
        <p:spPr>
          <a:xfrm>
            <a:off x="513159" y="3086100"/>
            <a:ext cx="6401991" cy="1409700"/>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i-FI"/>
              <a:t>Muokkaa tekstin perustyylejä napsauttamalla</a:t>
            </a:r>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6492152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ainaus ja kuvateksti">
    <p:spTree>
      <p:nvGrpSpPr>
        <p:cNvPr id="1" name=""/>
        <p:cNvGrpSpPr/>
        <p:nvPr/>
      </p:nvGrpSpPr>
      <p:grpSpPr>
        <a:xfrm>
          <a:off x="0" y="0"/>
          <a:ext cx="0" cy="0"/>
          <a:chOff x="0" y="0"/>
          <a:chExt cx="0" cy="0"/>
        </a:xfrm>
      </p:grpSpPr>
      <p:sp>
        <p:nvSpPr>
          <p:cNvPr id="2" name="Title 1"/>
          <p:cNvSpPr>
            <a:spLocks noGrp="1"/>
          </p:cNvSpPr>
          <p:nvPr>
            <p:ph type="title"/>
          </p:nvPr>
        </p:nvSpPr>
        <p:spPr>
          <a:xfrm>
            <a:off x="856059" y="514350"/>
            <a:ext cx="6858001" cy="2057400"/>
          </a:xfrm>
        </p:spPr>
        <p:txBody>
          <a:bodyPr anchor="ctr">
            <a:normAutofit/>
          </a:bodyPr>
          <a:lstStyle>
            <a:lvl1pPr algn="l">
              <a:defRPr sz="2400" b="0" cap="all">
                <a:solidFill>
                  <a:schemeClr val="tx1"/>
                </a:solidFill>
              </a:defRPr>
            </a:lvl1pPr>
          </a:lstStyle>
          <a:p>
            <a:r>
              <a:rPr lang="fi-FI"/>
              <a:t>Muokkaa ots. perustyyl. napsautt.</a:t>
            </a:r>
            <a:endParaRPr lang="en-US" dirty="0"/>
          </a:p>
        </p:txBody>
      </p:sp>
      <p:sp>
        <p:nvSpPr>
          <p:cNvPr id="10" name="Text Placeholder 9"/>
          <p:cNvSpPr>
            <a:spLocks noGrp="1"/>
          </p:cNvSpPr>
          <p:nvPr>
            <p:ph type="body" sz="quarter" idx="13"/>
          </p:nvPr>
        </p:nvSpPr>
        <p:spPr>
          <a:xfrm>
            <a:off x="1084659" y="2571750"/>
            <a:ext cx="6400800"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fi-FI"/>
              <a:t>Muokkaa tekstin perustyylejä napsauttamalla</a:t>
            </a:r>
          </a:p>
        </p:txBody>
      </p:sp>
      <p:sp>
        <p:nvSpPr>
          <p:cNvPr id="3" name="Text Placeholder 2"/>
          <p:cNvSpPr>
            <a:spLocks noGrp="1"/>
          </p:cNvSpPr>
          <p:nvPr>
            <p:ph type="body" idx="1"/>
          </p:nvPr>
        </p:nvSpPr>
        <p:spPr>
          <a:xfrm>
            <a:off x="513160" y="3225801"/>
            <a:ext cx="6400800" cy="1263649"/>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i-FI"/>
              <a:t>Muokkaa tekstin perustyylejä napsauttamalla</a:t>
            </a:r>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269331054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imikortti">
    <p:spTree>
      <p:nvGrpSpPr>
        <p:cNvPr id="1" name=""/>
        <p:cNvGrpSpPr/>
        <p:nvPr/>
      </p:nvGrpSpPr>
      <p:grpSpPr>
        <a:xfrm>
          <a:off x="0" y="0"/>
          <a:ext cx="0" cy="0"/>
          <a:chOff x="0" y="0"/>
          <a:chExt cx="0" cy="0"/>
        </a:xfrm>
      </p:grpSpPr>
      <p:sp>
        <p:nvSpPr>
          <p:cNvPr id="2" name="Title 1"/>
          <p:cNvSpPr>
            <a:spLocks noGrp="1"/>
          </p:cNvSpPr>
          <p:nvPr>
            <p:ph type="title"/>
          </p:nvPr>
        </p:nvSpPr>
        <p:spPr>
          <a:xfrm>
            <a:off x="513159" y="2571750"/>
            <a:ext cx="6400800" cy="1273050"/>
          </a:xfrm>
        </p:spPr>
        <p:txBody>
          <a:bodyPr anchor="b">
            <a:normAutofit/>
          </a:bodyPr>
          <a:lstStyle>
            <a:lvl1pPr algn="l">
              <a:defRPr sz="2400" b="0" cap="all"/>
            </a:lvl1pPr>
          </a:lstStyle>
          <a:p>
            <a:r>
              <a:rPr lang="fi-FI"/>
              <a:t>Muokkaa ots. perustyyl. napsautt.</a:t>
            </a:r>
            <a:endParaRPr lang="en-US" dirty="0"/>
          </a:p>
        </p:txBody>
      </p:sp>
      <p:sp>
        <p:nvSpPr>
          <p:cNvPr id="3" name="Text Placeholder 2"/>
          <p:cNvSpPr>
            <a:spLocks noGrp="1"/>
          </p:cNvSpPr>
          <p:nvPr>
            <p:ph type="body" idx="1"/>
          </p:nvPr>
        </p:nvSpPr>
        <p:spPr>
          <a:xfrm>
            <a:off x="513158" y="3849736"/>
            <a:ext cx="6401993" cy="645300"/>
          </a:xfrm>
        </p:spPr>
        <p:txBody>
          <a:bodyPr anchor="t">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i-FI"/>
              <a:t>Muokkaa tekstin perustyylejä napsauttamalla</a:t>
            </a:r>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0205314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ainauksen nimikortti">
    <p:spTree>
      <p:nvGrpSpPr>
        <p:cNvPr id="1" name=""/>
        <p:cNvGrpSpPr/>
        <p:nvPr/>
      </p:nvGrpSpPr>
      <p:grpSpPr>
        <a:xfrm>
          <a:off x="0" y="0"/>
          <a:ext cx="0" cy="0"/>
          <a:chOff x="0" y="0"/>
          <a:chExt cx="0" cy="0"/>
        </a:xfrm>
      </p:grpSpPr>
      <p:sp>
        <p:nvSpPr>
          <p:cNvPr id="2" name="Title 1"/>
          <p:cNvSpPr>
            <a:spLocks noGrp="1"/>
          </p:cNvSpPr>
          <p:nvPr>
            <p:ph type="title"/>
          </p:nvPr>
        </p:nvSpPr>
        <p:spPr>
          <a:xfrm>
            <a:off x="856060" y="514350"/>
            <a:ext cx="6858000" cy="2057400"/>
          </a:xfrm>
        </p:spPr>
        <p:txBody>
          <a:bodyPr anchor="ctr">
            <a:normAutofit/>
          </a:bodyPr>
          <a:lstStyle>
            <a:lvl1pPr algn="l">
              <a:defRPr sz="2400" b="0" cap="all">
                <a:solidFill>
                  <a:schemeClr val="tx1"/>
                </a:solidFill>
              </a:defRPr>
            </a:lvl1pPr>
          </a:lstStyle>
          <a:p>
            <a:r>
              <a:rPr lang="fi-FI"/>
              <a:t>Muokkaa ots. perustyyl. napsautt.</a:t>
            </a:r>
            <a:endParaRPr lang="en-US" dirty="0"/>
          </a:p>
        </p:txBody>
      </p:sp>
      <p:sp>
        <p:nvSpPr>
          <p:cNvPr id="10" name="Text Placeholder 9"/>
          <p:cNvSpPr>
            <a:spLocks noGrp="1"/>
          </p:cNvSpPr>
          <p:nvPr>
            <p:ph type="body" sz="quarter" idx="13"/>
          </p:nvPr>
        </p:nvSpPr>
        <p:spPr>
          <a:xfrm>
            <a:off x="513159" y="2946400"/>
            <a:ext cx="6400801" cy="78740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fi-FI"/>
              <a:t>Muokkaa tekstin perustyylejä napsauttamalla</a:t>
            </a:r>
          </a:p>
        </p:txBody>
      </p:sp>
      <p:sp>
        <p:nvSpPr>
          <p:cNvPr id="3" name="Text Placeholder 2"/>
          <p:cNvSpPr>
            <a:spLocks noGrp="1"/>
          </p:cNvSpPr>
          <p:nvPr>
            <p:ph type="body" idx="1"/>
          </p:nvPr>
        </p:nvSpPr>
        <p:spPr>
          <a:xfrm>
            <a:off x="513159" y="3733800"/>
            <a:ext cx="6400801" cy="76200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i-FI"/>
              <a:t>Muokkaa tekstin perustyylejä napsauttamalla</a:t>
            </a:r>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2" name="TextBox 11"/>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340041891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osi tai epätosi">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vert="horz" lIns="91440" tIns="45720" rIns="91440" bIns="45720" rtlCol="0" anchor="ctr">
            <a:normAutofit/>
          </a:bodyPr>
          <a:lstStyle>
            <a:lvl1pPr>
              <a:defRPr lang="en-US" b="0" dirty="0"/>
            </a:lvl1pPr>
          </a:lstStyle>
          <a:p>
            <a:pPr marL="0" lvl="0"/>
            <a:r>
              <a:rPr lang="fi-FI"/>
              <a:t>Muokkaa ots. perustyyl. napsautt.</a:t>
            </a:r>
            <a:endParaRPr lang="en-US" dirty="0"/>
          </a:p>
        </p:txBody>
      </p:sp>
      <p:sp>
        <p:nvSpPr>
          <p:cNvPr id="10" name="Text Placeholder 9"/>
          <p:cNvSpPr>
            <a:spLocks noGrp="1"/>
          </p:cNvSpPr>
          <p:nvPr>
            <p:ph type="body" sz="quarter" idx="13"/>
          </p:nvPr>
        </p:nvSpPr>
        <p:spPr>
          <a:xfrm>
            <a:off x="513159" y="2946401"/>
            <a:ext cx="6400800" cy="62865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fi-FI"/>
              <a:t>Muokkaa tekstin perustyylejä napsauttamalla</a:t>
            </a:r>
          </a:p>
        </p:txBody>
      </p:sp>
      <p:sp>
        <p:nvSpPr>
          <p:cNvPr id="3" name="Text Placeholder 2"/>
          <p:cNvSpPr>
            <a:spLocks noGrp="1"/>
          </p:cNvSpPr>
          <p:nvPr>
            <p:ph type="body" idx="1"/>
          </p:nvPr>
        </p:nvSpPr>
        <p:spPr>
          <a:xfrm>
            <a:off x="513159" y="3575049"/>
            <a:ext cx="6400801" cy="9207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i-FI"/>
              <a:t>Muokkaa tekstin perustyylejä napsauttamalla</a:t>
            </a:r>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854878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Otsikko ja pystysuora teks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fi-FI"/>
              <a:t>Muokkaa ots. perustyyl. napsautt.</a:t>
            </a:r>
            <a:endParaRPr lang="en-US" dirty="0"/>
          </a:p>
        </p:txBody>
      </p:sp>
      <p:sp>
        <p:nvSpPr>
          <p:cNvPr id="3" name="Vertical Text Placeholder 2"/>
          <p:cNvSpPr>
            <a:spLocks noGrp="1"/>
          </p:cNvSpPr>
          <p:nvPr>
            <p:ph type="body" orient="vert" idx="1"/>
          </p:nvPr>
        </p:nvSpPr>
        <p:spPr/>
        <p:txBody>
          <a:bodyPr vert="eaVert" anchor="t"/>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458382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Pystysuora otsikko ja teksti">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3909" y="514350"/>
            <a:ext cx="1543050" cy="3429000"/>
          </a:xfrm>
        </p:spPr>
        <p:txBody>
          <a:bodyPr vert="eaVert"/>
          <a:lstStyle/>
          <a:p>
            <a:r>
              <a:rPr lang="fi-FI"/>
              <a:t>Muokkaa ots. perustyyl. napsautt.</a:t>
            </a:r>
            <a:endParaRPr lang="en-US" dirty="0"/>
          </a:p>
        </p:txBody>
      </p:sp>
      <p:sp>
        <p:nvSpPr>
          <p:cNvPr id="3" name="Vertical Text Placeholder 2"/>
          <p:cNvSpPr>
            <a:spLocks noGrp="1"/>
          </p:cNvSpPr>
          <p:nvPr>
            <p:ph type="body" orient="vert" idx="1"/>
          </p:nvPr>
        </p:nvSpPr>
        <p:spPr>
          <a:xfrm>
            <a:off x="514350" y="514350"/>
            <a:ext cx="5867400" cy="3981450"/>
          </a:xfrm>
        </p:spPr>
        <p:txBody>
          <a:bodyPr vert="eaVert" anchor="t"/>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5975054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696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905227" y="2222500"/>
            <a:ext cx="2236394" cy="2406650"/>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13159" y="3365499"/>
            <a:ext cx="6400800" cy="1130300"/>
          </a:xfrm>
          <a:prstGeom prst="rect">
            <a:avLst/>
          </a:prstGeom>
          <a:effectLst/>
        </p:spPr>
        <p:txBody>
          <a:bodyPr vert="horz" lIns="91440" tIns="45720" rIns="91440" bIns="45720" rtlCol="0" anchor="ctr">
            <a:normAutofit/>
          </a:bodyPr>
          <a:lstStyle/>
          <a:p>
            <a:r>
              <a:rPr lang="fi-FI"/>
              <a:t>Muokkaa ots. perustyyl. napsautt.</a:t>
            </a:r>
            <a:endParaRPr lang="en-US" dirty="0"/>
          </a:p>
        </p:txBody>
      </p:sp>
      <p:sp>
        <p:nvSpPr>
          <p:cNvPr id="3" name="Text Placeholder 2"/>
          <p:cNvSpPr>
            <a:spLocks noGrp="1"/>
          </p:cNvSpPr>
          <p:nvPr>
            <p:ph type="body" idx="1"/>
          </p:nvPr>
        </p:nvSpPr>
        <p:spPr>
          <a:xfrm>
            <a:off x="513159" y="514351"/>
            <a:ext cx="6400800" cy="2711450"/>
          </a:xfrm>
          <a:prstGeom prst="rect">
            <a:avLst/>
          </a:prstGeom>
        </p:spPr>
        <p:txBody>
          <a:bodyPr vert="horz" lIns="91440" tIns="45720" rIns="91440" bIns="45720" rtlCol="0" anchor="ctr">
            <a:normAutofit/>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dirty="0"/>
          </a:p>
        </p:txBody>
      </p:sp>
      <p:sp>
        <p:nvSpPr>
          <p:cNvPr id="4" name="Date Placeholder 3"/>
          <p:cNvSpPr>
            <a:spLocks noGrp="1"/>
          </p:cNvSpPr>
          <p:nvPr>
            <p:ph type="dt" sz="half" idx="2"/>
          </p:nvPr>
        </p:nvSpPr>
        <p:spPr>
          <a:xfrm>
            <a:off x="7428309" y="4629150"/>
            <a:ext cx="1200150" cy="273844"/>
          </a:xfrm>
          <a:prstGeom prst="rect">
            <a:avLst/>
          </a:prstGeom>
        </p:spPr>
        <p:txBody>
          <a:bodyPr vert="horz" lIns="91440" tIns="45720" rIns="91440" bIns="45720" rtlCol="0" anchor="t"/>
          <a:lstStyle>
            <a:lvl1pPr algn="r">
              <a:defRPr sz="750" b="0" i="0">
                <a:solidFill>
                  <a:schemeClr val="bg2">
                    <a:lumMod val="50000"/>
                  </a:schemeClr>
                </a:solidFill>
                <a:effectLst/>
                <a:latin typeface="+mn-lt"/>
              </a:defRPr>
            </a:lvl1pPr>
          </a:lstStyle>
          <a:p>
            <a:fld id="{B61BEF0D-F0BB-DE4B-95CE-6DB70DBA9567}" type="datetimeFigureOut">
              <a:rPr lang="en-US" dirty="0"/>
              <a:pPr/>
              <a:t>3/3/2026</a:t>
            </a:fld>
            <a:endParaRPr lang="en-US" dirty="0"/>
          </a:p>
        </p:txBody>
      </p:sp>
      <p:sp>
        <p:nvSpPr>
          <p:cNvPr id="5" name="Footer Placeholder 4"/>
          <p:cNvSpPr>
            <a:spLocks noGrp="1"/>
          </p:cNvSpPr>
          <p:nvPr>
            <p:ph type="ftr" sz="quarter" idx="3"/>
          </p:nvPr>
        </p:nvSpPr>
        <p:spPr>
          <a:xfrm>
            <a:off x="513159" y="4629150"/>
            <a:ext cx="5657850" cy="273844"/>
          </a:xfrm>
          <a:prstGeom prst="rect">
            <a:avLst/>
          </a:prstGeom>
        </p:spPr>
        <p:txBody>
          <a:bodyPr vert="horz" lIns="91440" tIns="45720" rIns="91440" bIns="45720" rtlCol="0" anchor="t"/>
          <a:lstStyle>
            <a:lvl1pPr algn="l">
              <a:defRPr sz="75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7772400" y="4183857"/>
            <a:ext cx="856684" cy="502444"/>
          </a:xfrm>
          <a:prstGeom prst="rect">
            <a:avLst/>
          </a:prstGeom>
        </p:spPr>
        <p:txBody>
          <a:bodyPr vert="horz" lIns="91440" tIns="45720" rIns="91440" bIns="45720" rtlCol="0" anchor="b"/>
          <a:lstStyle>
            <a:lvl1pPr algn="r">
              <a:defRPr sz="2400" b="0" i="0">
                <a:solidFill>
                  <a:schemeClr val="bg2">
                    <a:lumMod val="50000"/>
                  </a:schemeClr>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92698878"/>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hf sldNum="0" hdr="0" ftr="0" dt="0"/>
  <p:txStyles>
    <p:titleStyle>
      <a:lvl1pPr algn="l" defTabSz="342900" rtl="0" eaLnBrk="1" latinLnBrk="0" hangingPunct="1">
        <a:spcBef>
          <a:spcPct val="0"/>
        </a:spcBef>
        <a:buNone/>
        <a:defRPr sz="27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500" kern="1200" cap="none">
          <a:solidFill>
            <a:schemeClr val="bg2">
              <a:lumMod val="7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350" kern="1200" cap="none">
          <a:solidFill>
            <a:schemeClr val="bg2">
              <a:lumMod val="7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200" kern="1200" cap="none">
          <a:solidFill>
            <a:schemeClr val="bg2">
              <a:lumMod val="7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19326-4E25-0F98-8A3A-6AC024FD97CE}"/>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ABE148E8-E477-2746-8E2F-AB7E2C31B87A}"/>
              </a:ext>
            </a:extLst>
          </p:cNvPr>
          <p:cNvSpPr/>
          <p:nvPr/>
        </p:nvSpPr>
        <p:spPr>
          <a:xfrm>
            <a:off x="365760" y="1371600"/>
            <a:ext cx="8412480" cy="2377440"/>
          </a:xfrm>
          <a:prstGeom prst="rect">
            <a:avLst/>
          </a:prstGeom>
          <a:solidFill>
            <a:srgbClr val="161B22"/>
          </a:solidFill>
          <a:ln w="12700">
            <a:solidFill>
              <a:srgbClr val="161B22"/>
            </a:solidFill>
            <a:prstDash val="solid"/>
          </a:ln>
          <a:effectLst>
            <a:outerShdw blurRad="152400" dist="50800" dir="8100000" algn="bl" rotWithShape="0">
              <a:srgbClr val="000000">
                <a:alpha val="40000"/>
              </a:srgbClr>
            </a:outerShdw>
          </a:effectLst>
        </p:spPr>
        <p:txBody>
          <a:bodyPr/>
          <a:lstStyle/>
          <a:p>
            <a:endParaRPr lang="LID4096" dirty="0"/>
          </a:p>
        </p:txBody>
      </p:sp>
      <p:sp>
        <p:nvSpPr>
          <p:cNvPr id="4" name="Text 2">
            <a:extLst>
              <a:ext uri="{FF2B5EF4-FFF2-40B4-BE49-F238E27FC236}">
                <a16:creationId xmlns:a16="http://schemas.microsoft.com/office/drawing/2014/main" id="{95C09FF2-3E5A-6CBA-9742-7374D92ECFE4}"/>
              </a:ext>
            </a:extLst>
          </p:cNvPr>
          <p:cNvSpPr/>
          <p:nvPr/>
        </p:nvSpPr>
        <p:spPr>
          <a:xfrm>
            <a:off x="457200" y="1508760"/>
            <a:ext cx="8229600" cy="731520"/>
          </a:xfrm>
          <a:prstGeom prst="rect">
            <a:avLst/>
          </a:prstGeom>
          <a:noFill/>
          <a:ln/>
        </p:spPr>
        <p:txBody>
          <a:bodyPr wrap="square" lIns="0" tIns="0" rIns="0" bIns="0" rtlCol="0" anchor="ctr"/>
          <a:lstStyle/>
          <a:p>
            <a:pPr marL="0" indent="0" algn="ctr">
              <a:buNone/>
            </a:pPr>
            <a:r>
              <a:rPr lang="en-US" sz="4000" b="1" dirty="0">
                <a:solidFill>
                  <a:srgbClr val="F0F6FC"/>
                </a:solidFill>
                <a:latin typeface="Calibri" pitchFamily="34" charset="0"/>
                <a:ea typeface="Calibri" pitchFamily="34" charset="-122"/>
                <a:cs typeface="Calibri" pitchFamily="34" charset="-120"/>
              </a:rPr>
              <a:t>Pedestrian Detection</a:t>
            </a:r>
            <a:endParaRPr lang="en-US" sz="4000" dirty="0"/>
          </a:p>
        </p:txBody>
      </p:sp>
      <p:sp>
        <p:nvSpPr>
          <p:cNvPr id="5" name="Text 3">
            <a:extLst>
              <a:ext uri="{FF2B5EF4-FFF2-40B4-BE49-F238E27FC236}">
                <a16:creationId xmlns:a16="http://schemas.microsoft.com/office/drawing/2014/main" id="{E1A6E14B-0B40-381A-1C0D-020B26F22FC6}"/>
              </a:ext>
            </a:extLst>
          </p:cNvPr>
          <p:cNvSpPr/>
          <p:nvPr/>
        </p:nvSpPr>
        <p:spPr>
          <a:xfrm>
            <a:off x="457200" y="2240280"/>
            <a:ext cx="8229600" cy="548640"/>
          </a:xfrm>
          <a:prstGeom prst="rect">
            <a:avLst/>
          </a:prstGeom>
          <a:noFill/>
          <a:ln/>
        </p:spPr>
        <p:txBody>
          <a:bodyPr wrap="square" lIns="0" tIns="0" rIns="0" bIns="0" rtlCol="0" anchor="ctr"/>
          <a:lstStyle/>
          <a:p>
            <a:pPr marL="0" indent="0" algn="ctr">
              <a:buNone/>
            </a:pPr>
            <a:r>
              <a:rPr lang="en-US" sz="2600" dirty="0">
                <a:solidFill>
                  <a:schemeClr val="tx2">
                    <a:lumMod val="75000"/>
                  </a:schemeClr>
                </a:solidFill>
                <a:latin typeface="Calibri" pitchFamily="34" charset="0"/>
                <a:ea typeface="Calibri" pitchFamily="34" charset="-122"/>
                <a:cs typeface="Calibri" pitchFamily="34" charset="-120"/>
              </a:rPr>
              <a:t>Faster R-CNN vs RetinaNet</a:t>
            </a:r>
            <a:endParaRPr lang="en-US" sz="2600" dirty="0">
              <a:solidFill>
                <a:schemeClr val="tx2">
                  <a:lumMod val="75000"/>
                </a:schemeClr>
              </a:solidFill>
            </a:endParaRPr>
          </a:p>
        </p:txBody>
      </p:sp>
      <p:sp>
        <p:nvSpPr>
          <p:cNvPr id="6" name="Text 4">
            <a:extLst>
              <a:ext uri="{FF2B5EF4-FFF2-40B4-BE49-F238E27FC236}">
                <a16:creationId xmlns:a16="http://schemas.microsoft.com/office/drawing/2014/main" id="{E192EED1-A91C-C712-7106-990F6ED54E9D}"/>
              </a:ext>
            </a:extLst>
          </p:cNvPr>
          <p:cNvSpPr/>
          <p:nvPr/>
        </p:nvSpPr>
        <p:spPr>
          <a:xfrm>
            <a:off x="457200" y="2834640"/>
            <a:ext cx="8229600" cy="365760"/>
          </a:xfrm>
          <a:prstGeom prst="rect">
            <a:avLst/>
          </a:prstGeom>
          <a:noFill/>
          <a:ln/>
        </p:spPr>
        <p:txBody>
          <a:bodyPr wrap="square" lIns="0" tIns="0" rIns="0" bIns="0" rtlCol="0" anchor="ctr"/>
          <a:lstStyle/>
          <a:p>
            <a:pPr marL="0" indent="0" algn="ctr">
              <a:buNone/>
            </a:pPr>
            <a:r>
              <a:rPr lang="en-US" sz="1300" dirty="0">
                <a:solidFill>
                  <a:srgbClr val="8B949E"/>
                </a:solidFill>
                <a:latin typeface="Calibri" pitchFamily="34" charset="0"/>
                <a:ea typeface="Calibri" pitchFamily="34" charset="-122"/>
                <a:cs typeface="Calibri" pitchFamily="34" charset="-120"/>
              </a:rPr>
              <a:t>OSU Thermal Pedestrian Dataset (OTCBVS)  ·  Arttu Kuitunen</a:t>
            </a:r>
            <a:endParaRPr lang="en-US" sz="1300" dirty="0"/>
          </a:p>
        </p:txBody>
      </p:sp>
      <p:sp>
        <p:nvSpPr>
          <p:cNvPr id="8" name="Text 6">
            <a:extLst>
              <a:ext uri="{FF2B5EF4-FFF2-40B4-BE49-F238E27FC236}">
                <a16:creationId xmlns:a16="http://schemas.microsoft.com/office/drawing/2014/main" id="{813E0AC2-2B96-0737-9D7E-8EC7B118CBF1}"/>
              </a:ext>
            </a:extLst>
          </p:cNvPr>
          <p:cNvSpPr/>
          <p:nvPr/>
        </p:nvSpPr>
        <p:spPr>
          <a:xfrm>
            <a:off x="457200" y="4773168"/>
            <a:ext cx="8229600" cy="347472"/>
          </a:xfrm>
          <a:prstGeom prst="rect">
            <a:avLst/>
          </a:prstGeom>
          <a:noFill/>
          <a:ln/>
        </p:spPr>
        <p:txBody>
          <a:bodyPr wrap="square" lIns="0" tIns="0" rIns="0" bIns="0" rtlCol="0" anchor="ctr"/>
          <a:lstStyle/>
          <a:p>
            <a:pPr marL="0" indent="0" algn="ctr">
              <a:buNone/>
            </a:pPr>
            <a:r>
              <a:rPr lang="en-US" sz="1100" dirty="0">
                <a:solidFill>
                  <a:srgbClr val="8B949E"/>
                </a:solidFill>
                <a:latin typeface="Calibri" pitchFamily="34" charset="0"/>
                <a:ea typeface="Calibri" pitchFamily="34" charset="-122"/>
                <a:cs typeface="Calibri" pitchFamily="34" charset="-120"/>
              </a:rPr>
              <a:t>Computer Vision · Spring 2026</a:t>
            </a:r>
            <a:endParaRPr lang="en-US" sz="1100" dirty="0"/>
          </a:p>
        </p:txBody>
      </p:sp>
    </p:spTree>
    <p:extLst>
      <p:ext uri="{BB962C8B-B14F-4D97-AF65-F5344CB8AC3E}">
        <p14:creationId xmlns:p14="http://schemas.microsoft.com/office/powerpoint/2010/main" val="3772207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29038-4500-048B-76E9-398581055EB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20B49DA-798A-EA72-AA67-7074B6AD9D26}"/>
              </a:ext>
            </a:extLst>
          </p:cNvPr>
          <p:cNvSpPr/>
          <p:nvPr/>
        </p:nvSpPr>
        <p:spPr>
          <a:xfrm>
            <a:off x="320040" y="164592"/>
            <a:ext cx="8503920" cy="548640"/>
          </a:xfrm>
          <a:prstGeom prst="rect">
            <a:avLst/>
          </a:prstGeom>
          <a:noFill/>
          <a:ln/>
        </p:spPr>
        <p:txBody>
          <a:bodyPr wrap="square" lIns="0" tIns="0" rIns="0" bIns="0" rtlCol="0" anchor="ctr"/>
          <a:lstStyle/>
          <a:p>
            <a:pPr marL="0" indent="0">
              <a:buNone/>
            </a:pPr>
            <a:r>
              <a:rPr lang="en-US" sz="3000" b="1" dirty="0">
                <a:solidFill>
                  <a:srgbClr val="F0F6FC"/>
                </a:solidFill>
                <a:latin typeface="Calibri" pitchFamily="34" charset="0"/>
                <a:ea typeface="Calibri" pitchFamily="34" charset="-122"/>
                <a:cs typeface="Calibri" pitchFamily="34" charset="-120"/>
              </a:rPr>
              <a:t>Dataset and implementation</a:t>
            </a:r>
            <a:endParaRPr lang="en-US" sz="3000" dirty="0"/>
          </a:p>
        </p:txBody>
      </p:sp>
      <p:sp>
        <p:nvSpPr>
          <p:cNvPr id="5" name="Shape 3">
            <a:extLst>
              <a:ext uri="{FF2B5EF4-FFF2-40B4-BE49-F238E27FC236}">
                <a16:creationId xmlns:a16="http://schemas.microsoft.com/office/drawing/2014/main" id="{E5E54354-BA15-1813-E96B-33D736007A7D}"/>
              </a:ext>
            </a:extLst>
          </p:cNvPr>
          <p:cNvSpPr/>
          <p:nvPr/>
        </p:nvSpPr>
        <p:spPr>
          <a:xfrm>
            <a:off x="484909" y="908858"/>
            <a:ext cx="3926822" cy="3657600"/>
          </a:xfrm>
          <a:prstGeom prst="rect">
            <a:avLst/>
          </a:prstGeom>
          <a:solidFill>
            <a:srgbClr val="161B22"/>
          </a:solidFill>
          <a:ln w="12700">
            <a:solidFill>
              <a:srgbClr val="161B22"/>
            </a:solidFill>
            <a:prstDash val="solid"/>
          </a:ln>
          <a:effectLst>
            <a:outerShdw blurRad="101600" dist="38100" dir="8100000" algn="bl" rotWithShape="0">
              <a:srgbClr val="000000">
                <a:alpha val="35000"/>
              </a:srgbClr>
            </a:outerShdw>
          </a:effectLst>
        </p:spPr>
        <p:txBody>
          <a:bodyPr/>
          <a:lstStyle/>
          <a:p>
            <a:pPr algn="just">
              <a:spcAft>
                <a:spcPts val="600"/>
              </a:spcAft>
            </a:pPr>
            <a:r>
              <a:rPr lang="en-US" sz="1200" dirty="0">
                <a:solidFill>
                  <a:schemeClr val="tx2">
                    <a:lumMod val="75000"/>
                  </a:schemeClr>
                </a:solidFill>
                <a:latin typeface="Calibri" pitchFamily="34" charset="0"/>
                <a:ea typeface="Calibri" pitchFamily="34" charset="-122"/>
                <a:cs typeface="Calibri" pitchFamily="34" charset="-120"/>
              </a:rPr>
              <a:t>Dataset</a:t>
            </a:r>
            <a:r>
              <a:rPr lang="en-US" sz="1200" dirty="0">
                <a:solidFill>
                  <a:srgbClr val="F0F6FC"/>
                </a:solidFill>
                <a:latin typeface="Calibri" pitchFamily="34" charset="0"/>
                <a:ea typeface="Calibri" pitchFamily="34" charset="-122"/>
                <a:cs typeface="Calibri" pitchFamily="34" charset="-120"/>
              </a:rPr>
              <a:t>	</a:t>
            </a:r>
          </a:p>
          <a:p>
            <a:pPr marL="285750" indent="-285750" algn="just">
              <a:spcAft>
                <a:spcPts val="600"/>
              </a:spcAft>
              <a:buFont typeface="Arial" panose="020B0604020202020204" pitchFamily="34" charset="0"/>
              <a:buChar char="•"/>
            </a:pPr>
            <a:r>
              <a:rPr lang="en-US" sz="1200" dirty="0">
                <a:solidFill>
                  <a:schemeClr val="tx1">
                    <a:lumMod val="95000"/>
                  </a:schemeClr>
                </a:solidFill>
                <a:latin typeface="Calibri" pitchFamily="34" charset="0"/>
                <a:ea typeface="Calibri" pitchFamily="34" charset="-122"/>
                <a:cs typeface="Calibri" pitchFamily="34" charset="-120"/>
              </a:rPr>
              <a:t>Project used </a:t>
            </a:r>
            <a:r>
              <a:rPr lang="en-US" sz="1200" dirty="0" err="1">
                <a:solidFill>
                  <a:schemeClr val="tx1">
                    <a:lumMod val="95000"/>
                  </a:schemeClr>
                </a:solidFill>
                <a:latin typeface="Calibri" pitchFamily="34" charset="0"/>
                <a:ea typeface="Calibri" pitchFamily="34" charset="-122"/>
                <a:cs typeface="Calibri" pitchFamily="34" charset="-120"/>
              </a:rPr>
              <a:t>OSU_Thermal_Detection</a:t>
            </a:r>
            <a:r>
              <a:rPr lang="en-US" sz="1200" dirty="0">
                <a:solidFill>
                  <a:schemeClr val="tx1">
                    <a:lumMod val="95000"/>
                  </a:schemeClr>
                </a:solidFill>
                <a:latin typeface="Calibri" pitchFamily="34" charset="0"/>
                <a:ea typeface="Calibri" pitchFamily="34" charset="-122"/>
                <a:cs typeface="Calibri" pitchFamily="34" charset="-120"/>
              </a:rPr>
              <a:t> dataset (OTCBVS) which contains a collection of thermal infrared images showing pedestrians walk across the scene.</a:t>
            </a:r>
          </a:p>
          <a:p>
            <a:pPr marL="285750" indent="-285750" algn="just">
              <a:spcAft>
                <a:spcPts val="600"/>
              </a:spcAft>
              <a:buFont typeface="Arial" panose="020B0604020202020204" pitchFamily="34" charset="0"/>
              <a:buChar char="•"/>
            </a:pPr>
            <a:r>
              <a:rPr lang="en-US" sz="1200" dirty="0">
                <a:solidFill>
                  <a:schemeClr val="tx1">
                    <a:lumMod val="95000"/>
                  </a:schemeClr>
                </a:solidFill>
                <a:latin typeface="Calibri" pitchFamily="34" charset="0"/>
                <a:ea typeface="Calibri" pitchFamily="34" charset="-122"/>
                <a:cs typeface="Calibri" pitchFamily="34" charset="-120"/>
              </a:rPr>
              <a:t>Images are grayscale converted to RGB channels with 360x240 resolution. </a:t>
            </a:r>
          </a:p>
          <a:p>
            <a:pPr marL="285750" indent="-285750" algn="just">
              <a:spcAft>
                <a:spcPts val="600"/>
              </a:spcAft>
              <a:buFont typeface="Arial" panose="020B0604020202020204" pitchFamily="34" charset="0"/>
              <a:buChar char="•"/>
            </a:pPr>
            <a:r>
              <a:rPr lang="en-US" sz="1200" dirty="0">
                <a:solidFill>
                  <a:schemeClr val="tx1">
                    <a:lumMod val="95000"/>
                  </a:schemeClr>
                </a:solidFill>
                <a:latin typeface="Calibri" pitchFamily="34" charset="0"/>
                <a:ea typeface="Calibri" pitchFamily="34" charset="-122"/>
                <a:cs typeface="Calibri" pitchFamily="34" charset="-120"/>
              </a:rPr>
              <a:t>Images are annotated with ground truth boxes as </a:t>
            </a:r>
            <a:r>
              <a:rPr lang="en-US" sz="1200" dirty="0" err="1">
                <a:solidFill>
                  <a:schemeClr val="tx1">
                    <a:lumMod val="95000"/>
                  </a:schemeClr>
                </a:solidFill>
                <a:latin typeface="Calibri" pitchFamily="34" charset="0"/>
                <a:ea typeface="Calibri" pitchFamily="34" charset="-122"/>
                <a:cs typeface="Calibri" pitchFamily="34" charset="-120"/>
              </a:rPr>
              <a:t>xy</a:t>
            </a:r>
            <a:r>
              <a:rPr lang="en-US" sz="1200" dirty="0">
                <a:solidFill>
                  <a:schemeClr val="tx1">
                    <a:lumMod val="95000"/>
                  </a:schemeClr>
                </a:solidFill>
                <a:latin typeface="Calibri" pitchFamily="34" charset="0"/>
                <a:ea typeface="Calibri" pitchFamily="34" charset="-122"/>
                <a:cs typeface="Calibri" pitchFamily="34" charset="-120"/>
              </a:rPr>
              <a:t>  -coordinates. Dataset is single class and 1 to many objects per image.</a:t>
            </a:r>
          </a:p>
          <a:p>
            <a:pPr marL="285750" indent="-285750" algn="just">
              <a:spcAft>
                <a:spcPts val="600"/>
              </a:spcAft>
              <a:buFont typeface="Arial" panose="020B0604020202020204" pitchFamily="34" charset="0"/>
              <a:buChar char="•"/>
            </a:pPr>
            <a:r>
              <a:rPr lang="en-US" sz="1200" dirty="0">
                <a:solidFill>
                  <a:schemeClr val="tx1">
                    <a:lumMod val="95000"/>
                  </a:schemeClr>
                </a:solidFill>
                <a:latin typeface="Calibri" pitchFamily="34" charset="0"/>
                <a:ea typeface="Calibri" pitchFamily="34" charset="-122"/>
                <a:cs typeface="Calibri" pitchFamily="34" charset="-120"/>
              </a:rPr>
              <a:t>Data loading is handled by custom class </a:t>
            </a:r>
            <a:r>
              <a:rPr lang="en-US" sz="1200" dirty="0" err="1">
                <a:solidFill>
                  <a:schemeClr val="tx1">
                    <a:lumMod val="95000"/>
                  </a:schemeClr>
                </a:solidFill>
                <a:latin typeface="Calibri" pitchFamily="34" charset="0"/>
                <a:ea typeface="Calibri" pitchFamily="34" charset="-122"/>
                <a:cs typeface="Calibri" pitchFamily="34" charset="-120"/>
              </a:rPr>
              <a:t>OTCBVDataset</a:t>
            </a:r>
            <a:r>
              <a:rPr lang="en-US" sz="1200" dirty="0">
                <a:solidFill>
                  <a:schemeClr val="tx1">
                    <a:lumMod val="95000"/>
                  </a:schemeClr>
                </a:solidFill>
                <a:latin typeface="Calibri" pitchFamily="34" charset="0"/>
                <a:ea typeface="Calibri" pitchFamily="34" charset="-122"/>
                <a:cs typeface="Calibri" pitchFamily="34" charset="-120"/>
              </a:rPr>
              <a:t> that reads all subfolders and builds a list of annotated samples.</a:t>
            </a:r>
          </a:p>
          <a:p>
            <a:pPr marL="285750" indent="-285750" algn="just">
              <a:spcAft>
                <a:spcPts val="600"/>
              </a:spcAft>
              <a:buFont typeface="Arial" panose="020B0604020202020204" pitchFamily="34" charset="0"/>
              <a:buChar char="•"/>
            </a:pPr>
            <a:r>
              <a:rPr lang="en-US" sz="1200" dirty="0">
                <a:solidFill>
                  <a:schemeClr val="tx1">
                    <a:lumMod val="95000"/>
                  </a:schemeClr>
                </a:solidFill>
                <a:latin typeface="Calibri" pitchFamily="34" charset="0"/>
                <a:cs typeface="Calibri" pitchFamily="34" charset="-120"/>
              </a:rPr>
              <a:t>Data is converted to RGB and transformed to float tensors. Background is handled as class 0 and object class as label 1.</a:t>
            </a:r>
          </a:p>
          <a:p>
            <a:pPr marL="285750" indent="-285750" algn="just">
              <a:spcAft>
                <a:spcPts val="600"/>
              </a:spcAft>
              <a:buFont typeface="Arial" panose="020B0604020202020204" pitchFamily="34" charset="0"/>
              <a:buChar char="•"/>
            </a:pPr>
            <a:r>
              <a:rPr lang="en-US" sz="1200" dirty="0">
                <a:solidFill>
                  <a:schemeClr val="tx1">
                    <a:lumMod val="95000"/>
                  </a:schemeClr>
                </a:solidFill>
                <a:latin typeface="Calibri" pitchFamily="34" charset="0"/>
                <a:cs typeface="Calibri" pitchFamily="34" charset="-120"/>
              </a:rPr>
              <a:t>Dataset is split 80/20 train/</a:t>
            </a:r>
            <a:r>
              <a:rPr lang="en-US" sz="1200" dirty="0" err="1">
                <a:solidFill>
                  <a:schemeClr val="tx1">
                    <a:lumMod val="95000"/>
                  </a:schemeClr>
                </a:solidFill>
                <a:latin typeface="Calibri" pitchFamily="34" charset="0"/>
                <a:cs typeface="Calibri" pitchFamily="34" charset="-120"/>
              </a:rPr>
              <a:t>val</a:t>
            </a:r>
            <a:r>
              <a:rPr lang="en-US" sz="1200" dirty="0">
                <a:solidFill>
                  <a:schemeClr val="tx1">
                    <a:lumMod val="95000"/>
                  </a:schemeClr>
                </a:solidFill>
                <a:latin typeface="Calibri" pitchFamily="34" charset="0"/>
                <a:cs typeface="Calibri" pitchFamily="34" charset="-120"/>
              </a:rPr>
              <a:t> using random seed. </a:t>
            </a:r>
          </a:p>
          <a:p>
            <a:pPr marL="285750" indent="-285750" algn="just">
              <a:spcAft>
                <a:spcPts val="600"/>
              </a:spcAft>
              <a:buFont typeface="Arial" panose="020B0604020202020204" pitchFamily="34" charset="0"/>
              <a:buChar char="•"/>
            </a:pPr>
            <a:endParaRPr lang="en-US" sz="1200" dirty="0"/>
          </a:p>
        </p:txBody>
      </p:sp>
      <p:sp>
        <p:nvSpPr>
          <p:cNvPr id="10" name="Text 6">
            <a:extLst>
              <a:ext uri="{FF2B5EF4-FFF2-40B4-BE49-F238E27FC236}">
                <a16:creationId xmlns:a16="http://schemas.microsoft.com/office/drawing/2014/main" id="{7BBA90E6-D5D0-5CCD-3D48-3D6D4E0CF5A1}"/>
              </a:ext>
            </a:extLst>
          </p:cNvPr>
          <p:cNvSpPr/>
          <p:nvPr/>
        </p:nvSpPr>
        <p:spPr>
          <a:xfrm>
            <a:off x="274320" y="4773168"/>
            <a:ext cx="8595360" cy="347472"/>
          </a:xfrm>
          <a:prstGeom prst="rect">
            <a:avLst/>
          </a:prstGeom>
          <a:noFill/>
          <a:ln/>
        </p:spPr>
        <p:txBody>
          <a:bodyPr wrap="square" lIns="0" tIns="0" rIns="0" bIns="0" rtlCol="0" anchor="ctr"/>
          <a:lstStyle/>
          <a:p>
            <a:pPr marL="0" indent="0" algn="ctr">
              <a:buNone/>
            </a:pPr>
            <a:r>
              <a:rPr lang="en-US" sz="1100" dirty="0">
                <a:solidFill>
                  <a:srgbClr val="8B949E"/>
                </a:solidFill>
                <a:latin typeface="Calibri" pitchFamily="34" charset="0"/>
                <a:ea typeface="Calibri" pitchFamily="34" charset="-122"/>
                <a:cs typeface="Calibri" pitchFamily="34" charset="-120"/>
              </a:rPr>
              <a:t>Faster R-CNN started at 0.41 loss · RetinaNet started at 0.56 loss · Both plateau by epoch 4</a:t>
            </a:r>
            <a:endParaRPr lang="en-US" sz="1100" dirty="0"/>
          </a:p>
        </p:txBody>
      </p:sp>
      <p:sp>
        <p:nvSpPr>
          <p:cNvPr id="12" name="Shape 3">
            <a:extLst>
              <a:ext uri="{FF2B5EF4-FFF2-40B4-BE49-F238E27FC236}">
                <a16:creationId xmlns:a16="http://schemas.microsoft.com/office/drawing/2014/main" id="{2A51EB6D-68C7-2297-9CDD-E205C19FDDF4}"/>
              </a:ext>
            </a:extLst>
          </p:cNvPr>
          <p:cNvSpPr/>
          <p:nvPr/>
        </p:nvSpPr>
        <p:spPr>
          <a:xfrm>
            <a:off x="4673600" y="897774"/>
            <a:ext cx="3985491" cy="3668684"/>
          </a:xfrm>
          <a:prstGeom prst="rect">
            <a:avLst/>
          </a:prstGeom>
          <a:solidFill>
            <a:srgbClr val="161B22"/>
          </a:solidFill>
          <a:ln w="12700">
            <a:solidFill>
              <a:srgbClr val="161B22"/>
            </a:solidFill>
            <a:prstDash val="solid"/>
          </a:ln>
          <a:effectLst>
            <a:outerShdw blurRad="101600" dist="38100" dir="8100000" algn="bl" rotWithShape="0">
              <a:srgbClr val="000000">
                <a:alpha val="35000"/>
              </a:srgbClr>
            </a:outerShdw>
          </a:effectLst>
        </p:spPr>
        <p:txBody>
          <a:bodyPr/>
          <a:lstStyle/>
          <a:p>
            <a:pPr algn="just">
              <a:spcAft>
                <a:spcPts val="600"/>
              </a:spcAft>
            </a:pPr>
            <a:r>
              <a:rPr lang="en-US" sz="1200" dirty="0">
                <a:solidFill>
                  <a:schemeClr val="tx2">
                    <a:lumMod val="75000"/>
                  </a:schemeClr>
                </a:solidFill>
                <a:latin typeface="Calibri" pitchFamily="34" charset="0"/>
                <a:cs typeface="Calibri" pitchFamily="34" charset="-120"/>
              </a:rPr>
              <a:t>Implementation</a:t>
            </a:r>
          </a:p>
          <a:p>
            <a:pPr marL="285750" indent="-285750" algn="just">
              <a:spcAft>
                <a:spcPts val="600"/>
              </a:spcAft>
              <a:buFont typeface="Arial" panose="020B0604020202020204" pitchFamily="34" charset="0"/>
              <a:buChar char="•"/>
            </a:pPr>
            <a:r>
              <a:rPr lang="en-US" sz="1200" dirty="0">
                <a:solidFill>
                  <a:schemeClr val="tx1">
                    <a:lumMod val="95000"/>
                  </a:schemeClr>
                </a:solidFill>
                <a:latin typeface="Calibri" pitchFamily="34" charset="0"/>
                <a:cs typeface="Calibri" pitchFamily="34" charset="-120"/>
              </a:rPr>
              <a:t>Faster R-CNN is pretrained with ResNet-50 FPN and that backbone is frozen. Only the </a:t>
            </a:r>
            <a:r>
              <a:rPr lang="en-US" sz="1200" dirty="0" err="1">
                <a:solidFill>
                  <a:schemeClr val="tx1">
                    <a:lumMod val="95000"/>
                  </a:schemeClr>
                </a:solidFill>
                <a:latin typeface="Calibri" pitchFamily="34" charset="0"/>
                <a:cs typeface="Calibri" pitchFamily="34" charset="-120"/>
              </a:rPr>
              <a:t>FastRCNNPredictor</a:t>
            </a:r>
            <a:r>
              <a:rPr lang="en-US" sz="1200" dirty="0">
                <a:solidFill>
                  <a:schemeClr val="tx1">
                    <a:lumMod val="95000"/>
                  </a:schemeClr>
                </a:solidFill>
                <a:latin typeface="Calibri" pitchFamily="34" charset="0"/>
                <a:cs typeface="Calibri" pitchFamily="34" charset="-120"/>
              </a:rPr>
              <a:t> head is replaced to output 2 classes (background and pedestrian. </a:t>
            </a:r>
          </a:p>
          <a:p>
            <a:pPr marL="285750" indent="-285750" algn="just">
              <a:spcAft>
                <a:spcPts val="600"/>
              </a:spcAft>
              <a:buFont typeface="Arial" panose="020B0604020202020204" pitchFamily="34" charset="0"/>
              <a:buChar char="•"/>
            </a:pPr>
            <a:r>
              <a:rPr lang="en-US" sz="1200" dirty="0" err="1">
                <a:solidFill>
                  <a:schemeClr val="tx1">
                    <a:lumMod val="95000"/>
                  </a:schemeClr>
                </a:solidFill>
                <a:latin typeface="Calibri" pitchFamily="34" charset="0"/>
                <a:cs typeface="Calibri" pitchFamily="34" charset="-120"/>
              </a:rPr>
              <a:t>RetinaNet</a:t>
            </a:r>
            <a:r>
              <a:rPr lang="en-US" sz="1200" dirty="0">
                <a:solidFill>
                  <a:schemeClr val="tx1">
                    <a:lumMod val="95000"/>
                  </a:schemeClr>
                </a:solidFill>
                <a:latin typeface="Calibri" pitchFamily="34" charset="0"/>
                <a:cs typeface="Calibri" pitchFamily="34" charset="-120"/>
              </a:rPr>
              <a:t> follows same pattern and both models are trained with given SGD optimizer values (</a:t>
            </a:r>
            <a:r>
              <a:rPr lang="en-US" sz="1200" dirty="0" err="1">
                <a:solidFill>
                  <a:schemeClr val="tx1">
                    <a:lumMod val="95000"/>
                  </a:schemeClr>
                </a:solidFill>
                <a:latin typeface="Calibri" pitchFamily="34" charset="0"/>
                <a:cs typeface="Calibri" pitchFamily="34" charset="-120"/>
              </a:rPr>
              <a:t>lr</a:t>
            </a:r>
            <a:r>
              <a:rPr lang="en-US" sz="1200" dirty="0">
                <a:solidFill>
                  <a:schemeClr val="tx1">
                    <a:lumMod val="95000"/>
                  </a:schemeClr>
                </a:solidFill>
                <a:latin typeface="Calibri" pitchFamily="34" charset="0"/>
                <a:cs typeface="Calibri" pitchFamily="34" charset="-120"/>
              </a:rPr>
              <a:t>=0.005, momentum=0.9, </a:t>
            </a:r>
            <a:r>
              <a:rPr lang="en-US" sz="1200" dirty="0" err="1">
                <a:solidFill>
                  <a:schemeClr val="tx1">
                    <a:lumMod val="95000"/>
                  </a:schemeClr>
                </a:solidFill>
                <a:latin typeface="Calibri" pitchFamily="34" charset="0"/>
                <a:cs typeface="Calibri" pitchFamily="34" charset="-120"/>
              </a:rPr>
              <a:t>weight_decay</a:t>
            </a:r>
            <a:r>
              <a:rPr lang="en-US" sz="1200" dirty="0">
                <a:solidFill>
                  <a:schemeClr val="tx1">
                    <a:lumMod val="95000"/>
                  </a:schemeClr>
                </a:solidFill>
                <a:latin typeface="Calibri" pitchFamily="34" charset="0"/>
                <a:cs typeface="Calibri" pitchFamily="34" charset="-120"/>
              </a:rPr>
              <a:t>=0,0005)</a:t>
            </a:r>
          </a:p>
          <a:p>
            <a:pPr marL="285750" indent="-285750" algn="just">
              <a:spcAft>
                <a:spcPts val="600"/>
              </a:spcAft>
              <a:buFont typeface="Arial" panose="020B0604020202020204" pitchFamily="34" charset="0"/>
              <a:buChar char="•"/>
            </a:pPr>
            <a:r>
              <a:rPr lang="en-US" sz="1200" dirty="0" err="1">
                <a:solidFill>
                  <a:schemeClr val="tx1">
                    <a:lumMod val="95000"/>
                  </a:schemeClr>
                </a:solidFill>
                <a:latin typeface="Calibri" pitchFamily="34" charset="0"/>
                <a:cs typeface="Calibri" pitchFamily="34" charset="-120"/>
              </a:rPr>
              <a:t>TorchVision</a:t>
            </a:r>
            <a:r>
              <a:rPr lang="en-US" sz="1200" dirty="0">
                <a:solidFill>
                  <a:schemeClr val="tx1">
                    <a:lumMod val="95000"/>
                  </a:schemeClr>
                </a:solidFill>
                <a:latin typeface="Calibri" pitchFamily="34" charset="0"/>
                <a:cs typeface="Calibri" pitchFamily="34" charset="-120"/>
              </a:rPr>
              <a:t> detection models return losses that are </a:t>
            </a:r>
            <a:r>
              <a:rPr lang="en-US" sz="1200" dirty="0" err="1">
                <a:solidFill>
                  <a:schemeClr val="tx1">
                    <a:lumMod val="95000"/>
                  </a:schemeClr>
                </a:solidFill>
                <a:latin typeface="Calibri" pitchFamily="34" charset="0"/>
                <a:cs typeface="Calibri" pitchFamily="34" charset="-120"/>
              </a:rPr>
              <a:t>summes</a:t>
            </a:r>
            <a:r>
              <a:rPr lang="en-US" sz="1200" dirty="0">
                <a:solidFill>
                  <a:schemeClr val="tx1">
                    <a:lumMod val="95000"/>
                  </a:schemeClr>
                </a:solidFill>
                <a:latin typeface="Calibri" pitchFamily="34" charset="0"/>
                <a:cs typeface="Calibri" pitchFamily="34" charset="-120"/>
              </a:rPr>
              <a:t> and backpropagated.</a:t>
            </a:r>
          </a:p>
          <a:p>
            <a:pPr marL="285750" indent="-285750" algn="just">
              <a:spcAft>
                <a:spcPts val="600"/>
              </a:spcAft>
              <a:buFont typeface="Arial" panose="020B0604020202020204" pitchFamily="34" charset="0"/>
              <a:buChar char="•"/>
            </a:pPr>
            <a:r>
              <a:rPr lang="en-US" sz="1200" dirty="0">
                <a:solidFill>
                  <a:schemeClr val="tx1">
                    <a:lumMod val="95000"/>
                  </a:schemeClr>
                </a:solidFill>
                <a:latin typeface="Calibri" pitchFamily="34" charset="0"/>
                <a:cs typeface="Calibri" pitchFamily="34" charset="-120"/>
              </a:rPr>
              <a:t>Evaluation computes </a:t>
            </a:r>
            <a:r>
              <a:rPr lang="en-US" sz="1200" dirty="0" err="1">
                <a:solidFill>
                  <a:schemeClr val="tx1">
                    <a:lumMod val="95000"/>
                  </a:schemeClr>
                </a:solidFill>
                <a:latin typeface="Calibri" pitchFamily="34" charset="0"/>
                <a:cs typeface="Calibri" pitchFamily="34" charset="-120"/>
              </a:rPr>
              <a:t>mAP</a:t>
            </a:r>
            <a:r>
              <a:rPr lang="en-US" sz="1200" dirty="0">
                <a:solidFill>
                  <a:schemeClr val="tx1">
                    <a:lumMod val="95000"/>
                  </a:schemeClr>
                </a:solidFill>
                <a:latin typeface="Calibri" pitchFamily="34" charset="0"/>
                <a:cs typeface="Calibri" pitchFamily="34" charset="-120"/>
              </a:rPr>
              <a:t>, mAP@50 from accumulated predictions and inference timing is measured per image with warmup period discarded.</a:t>
            </a:r>
            <a:endParaRPr lang="en-US" sz="1200" dirty="0">
              <a:solidFill>
                <a:schemeClr val="tx1">
                  <a:lumMod val="95000"/>
                </a:schemeClr>
              </a:solidFill>
            </a:endParaRPr>
          </a:p>
        </p:txBody>
      </p:sp>
    </p:spTree>
    <p:extLst>
      <p:ext uri="{BB962C8B-B14F-4D97-AF65-F5344CB8AC3E}">
        <p14:creationId xmlns:p14="http://schemas.microsoft.com/office/powerpoint/2010/main" val="621974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632E9-2C24-445B-DE0E-3203274EA9B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D871629-CE1B-2473-4C53-45A20DFF10B6}"/>
              </a:ext>
            </a:extLst>
          </p:cNvPr>
          <p:cNvSpPr/>
          <p:nvPr/>
        </p:nvSpPr>
        <p:spPr>
          <a:xfrm>
            <a:off x="320040" y="164592"/>
            <a:ext cx="8503920" cy="548640"/>
          </a:xfrm>
          <a:prstGeom prst="rect">
            <a:avLst/>
          </a:prstGeom>
          <a:noFill/>
          <a:ln/>
        </p:spPr>
        <p:txBody>
          <a:bodyPr wrap="square" lIns="0" tIns="0" rIns="0" bIns="0" rtlCol="0" anchor="ctr"/>
          <a:lstStyle/>
          <a:p>
            <a:pPr marL="0" indent="0">
              <a:buNone/>
            </a:pPr>
            <a:r>
              <a:rPr lang="en-US" sz="3000" b="1" dirty="0">
                <a:solidFill>
                  <a:srgbClr val="F0F6FC"/>
                </a:solidFill>
                <a:latin typeface="Calibri" pitchFamily="34" charset="0"/>
                <a:ea typeface="Calibri" pitchFamily="34" charset="-122"/>
                <a:cs typeface="Calibri" pitchFamily="34" charset="-120"/>
              </a:rPr>
              <a:t>Training Loss</a:t>
            </a:r>
            <a:endParaRPr lang="en-US" sz="3000" dirty="0"/>
          </a:p>
        </p:txBody>
      </p:sp>
      <p:sp>
        <p:nvSpPr>
          <p:cNvPr id="4" name="Text 2">
            <a:extLst>
              <a:ext uri="{FF2B5EF4-FFF2-40B4-BE49-F238E27FC236}">
                <a16:creationId xmlns:a16="http://schemas.microsoft.com/office/drawing/2014/main" id="{23E6BB23-DC49-6C08-C6A9-E31D06BEDC8E}"/>
              </a:ext>
            </a:extLst>
          </p:cNvPr>
          <p:cNvSpPr/>
          <p:nvPr/>
        </p:nvSpPr>
        <p:spPr>
          <a:xfrm>
            <a:off x="320040" y="685800"/>
            <a:ext cx="8503920" cy="320040"/>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Both models converge smoothly over 5 epochs on the OTCBVS thermal dataset</a:t>
            </a:r>
            <a:endParaRPr lang="en-US" sz="1300" dirty="0"/>
          </a:p>
        </p:txBody>
      </p:sp>
      <p:sp>
        <p:nvSpPr>
          <p:cNvPr id="5" name="Shape 3">
            <a:extLst>
              <a:ext uri="{FF2B5EF4-FFF2-40B4-BE49-F238E27FC236}">
                <a16:creationId xmlns:a16="http://schemas.microsoft.com/office/drawing/2014/main" id="{1778A547-8CFB-12CE-236F-A1ED1FBE2976}"/>
              </a:ext>
            </a:extLst>
          </p:cNvPr>
          <p:cNvSpPr/>
          <p:nvPr/>
        </p:nvSpPr>
        <p:spPr>
          <a:xfrm>
            <a:off x="320040" y="1097280"/>
            <a:ext cx="4023360" cy="3474720"/>
          </a:xfrm>
          <a:prstGeom prst="rect">
            <a:avLst/>
          </a:prstGeom>
          <a:solidFill>
            <a:srgbClr val="161B22"/>
          </a:solidFill>
          <a:ln w="12700">
            <a:solidFill>
              <a:srgbClr val="161B22"/>
            </a:solidFill>
            <a:prstDash val="solid"/>
          </a:ln>
          <a:effectLst>
            <a:outerShdw blurRad="101600" dist="38100" dir="8100000" algn="bl" rotWithShape="0">
              <a:srgbClr val="000000">
                <a:alpha val="35000"/>
              </a:srgbClr>
            </a:outerShdw>
          </a:effectLst>
        </p:spPr>
        <p:txBody>
          <a:bodyPr/>
          <a:lstStyle/>
          <a:p>
            <a:endParaRPr lang="LID4096"/>
          </a:p>
        </p:txBody>
      </p:sp>
      <p:pic>
        <p:nvPicPr>
          <p:cNvPr id="6" name="Image 0" descr="preencoded.png">
            <a:extLst>
              <a:ext uri="{FF2B5EF4-FFF2-40B4-BE49-F238E27FC236}">
                <a16:creationId xmlns:a16="http://schemas.microsoft.com/office/drawing/2014/main" id="{6401D104-7E40-4252-1A48-1FE097A6AED9}"/>
              </a:ext>
            </a:extLst>
          </p:cNvPr>
          <p:cNvPicPr>
            <a:picLocks noChangeAspect="1"/>
          </p:cNvPicPr>
          <p:nvPr/>
        </p:nvPicPr>
        <p:blipFill>
          <a:blip r:embed="rId3"/>
          <a:stretch>
            <a:fillRect/>
          </a:stretch>
        </p:blipFill>
        <p:spPr>
          <a:xfrm>
            <a:off x="411480" y="1170432"/>
            <a:ext cx="3840480" cy="3291840"/>
          </a:xfrm>
          <a:prstGeom prst="rect">
            <a:avLst/>
          </a:prstGeom>
        </p:spPr>
      </p:pic>
      <p:sp>
        <p:nvSpPr>
          <p:cNvPr id="7" name="Shape 4">
            <a:extLst>
              <a:ext uri="{FF2B5EF4-FFF2-40B4-BE49-F238E27FC236}">
                <a16:creationId xmlns:a16="http://schemas.microsoft.com/office/drawing/2014/main" id="{6B7DD2A9-09FD-F0B2-F69B-F2AB19159284}"/>
              </a:ext>
            </a:extLst>
          </p:cNvPr>
          <p:cNvSpPr/>
          <p:nvPr/>
        </p:nvSpPr>
        <p:spPr>
          <a:xfrm>
            <a:off x="4800600" y="1097280"/>
            <a:ext cx="4023360" cy="3474720"/>
          </a:xfrm>
          <a:prstGeom prst="rect">
            <a:avLst/>
          </a:prstGeom>
          <a:solidFill>
            <a:srgbClr val="161B22"/>
          </a:solidFill>
          <a:ln w="12700">
            <a:solidFill>
              <a:srgbClr val="161B22"/>
            </a:solidFill>
            <a:prstDash val="solid"/>
          </a:ln>
          <a:effectLst>
            <a:outerShdw blurRad="101600" dist="38100" dir="8100000" algn="bl" rotWithShape="0">
              <a:srgbClr val="000000">
                <a:alpha val="35000"/>
              </a:srgbClr>
            </a:outerShdw>
          </a:effectLst>
        </p:spPr>
        <p:txBody>
          <a:bodyPr/>
          <a:lstStyle/>
          <a:p>
            <a:endParaRPr lang="LID4096"/>
          </a:p>
        </p:txBody>
      </p:sp>
      <p:pic>
        <p:nvPicPr>
          <p:cNvPr id="8" name="Image 1" descr="preencoded.png">
            <a:extLst>
              <a:ext uri="{FF2B5EF4-FFF2-40B4-BE49-F238E27FC236}">
                <a16:creationId xmlns:a16="http://schemas.microsoft.com/office/drawing/2014/main" id="{17E9161C-592B-44AE-DDD8-91371B917109}"/>
              </a:ext>
            </a:extLst>
          </p:cNvPr>
          <p:cNvPicPr>
            <a:picLocks noChangeAspect="1"/>
          </p:cNvPicPr>
          <p:nvPr/>
        </p:nvPicPr>
        <p:blipFill>
          <a:blip r:embed="rId4"/>
          <a:stretch>
            <a:fillRect/>
          </a:stretch>
        </p:blipFill>
        <p:spPr>
          <a:xfrm>
            <a:off x="4892040" y="1170432"/>
            <a:ext cx="3840480" cy="3291840"/>
          </a:xfrm>
          <a:prstGeom prst="rect">
            <a:avLst/>
          </a:prstGeom>
        </p:spPr>
      </p:pic>
      <p:sp>
        <p:nvSpPr>
          <p:cNvPr id="10" name="Text 6">
            <a:extLst>
              <a:ext uri="{FF2B5EF4-FFF2-40B4-BE49-F238E27FC236}">
                <a16:creationId xmlns:a16="http://schemas.microsoft.com/office/drawing/2014/main" id="{D1A280B6-8367-435C-5B90-815102CF85E2}"/>
              </a:ext>
            </a:extLst>
          </p:cNvPr>
          <p:cNvSpPr/>
          <p:nvPr/>
        </p:nvSpPr>
        <p:spPr>
          <a:xfrm>
            <a:off x="274320" y="4773168"/>
            <a:ext cx="8595360" cy="347472"/>
          </a:xfrm>
          <a:prstGeom prst="rect">
            <a:avLst/>
          </a:prstGeom>
          <a:noFill/>
          <a:ln/>
        </p:spPr>
        <p:txBody>
          <a:bodyPr wrap="square" lIns="0" tIns="0" rIns="0" bIns="0" rtlCol="0" anchor="ctr"/>
          <a:lstStyle/>
          <a:p>
            <a:pPr marL="0" indent="0" algn="ctr">
              <a:buNone/>
            </a:pPr>
            <a:r>
              <a:rPr lang="en-US" sz="1100" dirty="0">
                <a:solidFill>
                  <a:srgbClr val="8B949E"/>
                </a:solidFill>
                <a:latin typeface="Calibri" pitchFamily="34" charset="0"/>
                <a:ea typeface="Calibri" pitchFamily="34" charset="-122"/>
                <a:cs typeface="Calibri" pitchFamily="34" charset="-120"/>
              </a:rPr>
              <a:t>Faster R-CNN started at 0.41 loss · RetinaNet started at 0.56 loss · Both start </a:t>
            </a:r>
            <a:r>
              <a:rPr lang="en-US" sz="1100" dirty="0" err="1">
                <a:solidFill>
                  <a:srgbClr val="8B949E"/>
                </a:solidFill>
                <a:latin typeface="Calibri" pitchFamily="34" charset="0"/>
                <a:ea typeface="Calibri" pitchFamily="34" charset="-122"/>
                <a:cs typeface="Calibri" pitchFamily="34" charset="-120"/>
              </a:rPr>
              <a:t>plateuing</a:t>
            </a:r>
            <a:r>
              <a:rPr lang="en-US" sz="1100" dirty="0">
                <a:solidFill>
                  <a:srgbClr val="8B949E"/>
                </a:solidFill>
                <a:latin typeface="Calibri" pitchFamily="34" charset="0"/>
                <a:ea typeface="Calibri" pitchFamily="34" charset="-122"/>
                <a:cs typeface="Calibri" pitchFamily="34" charset="-120"/>
              </a:rPr>
              <a:t> at epoch 4</a:t>
            </a:r>
            <a:endParaRPr lang="en-US" sz="1100" dirty="0"/>
          </a:p>
        </p:txBody>
      </p:sp>
    </p:spTree>
    <p:extLst>
      <p:ext uri="{BB962C8B-B14F-4D97-AF65-F5344CB8AC3E}">
        <p14:creationId xmlns:p14="http://schemas.microsoft.com/office/powerpoint/2010/main" val="2589109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F7210-B071-14DA-B92D-2DEB31FCC868}"/>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713C873-D003-C217-3BA1-2A64DE8BB414}"/>
              </a:ext>
            </a:extLst>
          </p:cNvPr>
          <p:cNvSpPr/>
          <p:nvPr/>
        </p:nvSpPr>
        <p:spPr>
          <a:xfrm>
            <a:off x="320040" y="137160"/>
            <a:ext cx="8503920" cy="502920"/>
          </a:xfrm>
          <a:prstGeom prst="rect">
            <a:avLst/>
          </a:prstGeom>
          <a:noFill/>
          <a:ln/>
        </p:spPr>
        <p:txBody>
          <a:bodyPr wrap="square" lIns="0" tIns="0" rIns="0" bIns="0" rtlCol="0" anchor="ctr"/>
          <a:lstStyle/>
          <a:p>
            <a:pPr marL="0" indent="0">
              <a:buNone/>
            </a:pPr>
            <a:r>
              <a:rPr lang="en-US" sz="2400" b="1" dirty="0">
                <a:solidFill>
                  <a:srgbClr val="F0F6FC"/>
                </a:solidFill>
                <a:latin typeface="Calibri" pitchFamily="34" charset="0"/>
                <a:ea typeface="Calibri" pitchFamily="34" charset="-122"/>
                <a:cs typeface="Calibri" pitchFamily="34" charset="-120"/>
              </a:rPr>
              <a:t>Prediction samples</a:t>
            </a:r>
            <a:endParaRPr lang="en-US" sz="2400" dirty="0"/>
          </a:p>
        </p:txBody>
      </p:sp>
      <p:sp>
        <p:nvSpPr>
          <p:cNvPr id="4" name="Text 2">
            <a:extLst>
              <a:ext uri="{FF2B5EF4-FFF2-40B4-BE49-F238E27FC236}">
                <a16:creationId xmlns:a16="http://schemas.microsoft.com/office/drawing/2014/main" id="{A38CB99B-B4A3-FF76-F759-7FE23DD0A8B8}"/>
              </a:ext>
            </a:extLst>
          </p:cNvPr>
          <p:cNvSpPr/>
          <p:nvPr/>
        </p:nvSpPr>
        <p:spPr>
          <a:xfrm>
            <a:off x="1253340" y="537358"/>
            <a:ext cx="2606040" cy="274320"/>
          </a:xfrm>
          <a:prstGeom prst="rect">
            <a:avLst/>
          </a:prstGeom>
          <a:noFill/>
          <a:ln/>
        </p:spPr>
        <p:txBody>
          <a:bodyPr wrap="square" lIns="0" tIns="0" rIns="0" bIns="0" rtlCol="0" anchor="ctr"/>
          <a:lstStyle/>
          <a:p>
            <a:pPr marL="0" indent="0" algn="ctr">
              <a:buNone/>
            </a:pPr>
            <a:r>
              <a:rPr lang="en-US" sz="1200" b="1" dirty="0">
                <a:solidFill>
                  <a:schemeClr val="tx2">
                    <a:lumMod val="75000"/>
                  </a:schemeClr>
                </a:solidFill>
                <a:latin typeface="Calibri" pitchFamily="34" charset="0"/>
                <a:ea typeface="Calibri" pitchFamily="34" charset="-122"/>
                <a:cs typeface="Calibri" pitchFamily="34" charset="-120"/>
              </a:rPr>
              <a:t>Faster R-CNN</a:t>
            </a:r>
            <a:endParaRPr lang="en-US" sz="1200" dirty="0">
              <a:solidFill>
                <a:schemeClr val="tx2">
                  <a:lumMod val="75000"/>
                </a:schemeClr>
              </a:solidFill>
            </a:endParaRPr>
          </a:p>
        </p:txBody>
      </p:sp>
      <p:sp>
        <p:nvSpPr>
          <p:cNvPr id="5" name="Text 3">
            <a:extLst>
              <a:ext uri="{FF2B5EF4-FFF2-40B4-BE49-F238E27FC236}">
                <a16:creationId xmlns:a16="http://schemas.microsoft.com/office/drawing/2014/main" id="{B788816F-48A5-12A3-2898-EFC337CFB155}"/>
              </a:ext>
            </a:extLst>
          </p:cNvPr>
          <p:cNvSpPr/>
          <p:nvPr/>
        </p:nvSpPr>
        <p:spPr>
          <a:xfrm>
            <a:off x="4934903" y="494011"/>
            <a:ext cx="2606040" cy="274320"/>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RetinaNet</a:t>
            </a:r>
            <a:endParaRPr lang="en-US" sz="1200" dirty="0"/>
          </a:p>
        </p:txBody>
      </p:sp>
      <p:sp>
        <p:nvSpPr>
          <p:cNvPr id="6" name="Text 4">
            <a:extLst>
              <a:ext uri="{FF2B5EF4-FFF2-40B4-BE49-F238E27FC236}">
                <a16:creationId xmlns:a16="http://schemas.microsoft.com/office/drawing/2014/main" id="{7B5D701D-9635-F139-50D5-4BE0929DBABE}"/>
              </a:ext>
            </a:extLst>
          </p:cNvPr>
          <p:cNvSpPr/>
          <p:nvPr/>
        </p:nvSpPr>
        <p:spPr>
          <a:xfrm>
            <a:off x="1098522" y="2652478"/>
            <a:ext cx="2971800" cy="274320"/>
          </a:xfrm>
          <a:prstGeom prst="rect">
            <a:avLst/>
          </a:prstGeom>
          <a:noFill/>
          <a:ln/>
        </p:spPr>
        <p:txBody>
          <a:bodyPr wrap="square" lIns="0" tIns="0" rIns="0" bIns="0" rtlCol="0" anchor="ctr"/>
          <a:lstStyle/>
          <a:p>
            <a:pPr marL="0" indent="0" algn="ctr">
              <a:buNone/>
            </a:pPr>
            <a:r>
              <a:rPr lang="en-US" sz="1200" b="1" dirty="0">
                <a:solidFill>
                  <a:schemeClr val="tx2">
                    <a:lumMod val="75000"/>
                  </a:schemeClr>
                </a:solidFill>
                <a:latin typeface="Calibri" pitchFamily="34" charset="0"/>
                <a:ea typeface="Calibri" pitchFamily="34" charset="-122"/>
                <a:cs typeface="Calibri" pitchFamily="34" charset="-120"/>
              </a:rPr>
              <a:t>Faster R-CNN (2</a:t>
            </a:r>
            <a:r>
              <a:rPr lang="en-US" sz="1200" b="1" baseline="30000" dirty="0">
                <a:solidFill>
                  <a:schemeClr val="tx2">
                    <a:lumMod val="75000"/>
                  </a:schemeClr>
                </a:solidFill>
                <a:latin typeface="Calibri" pitchFamily="34" charset="0"/>
                <a:ea typeface="Calibri" pitchFamily="34" charset="-122"/>
                <a:cs typeface="Calibri" pitchFamily="34" charset="-120"/>
              </a:rPr>
              <a:t>nd</a:t>
            </a:r>
            <a:r>
              <a:rPr lang="en-US" sz="1200" b="1" dirty="0">
                <a:solidFill>
                  <a:schemeClr val="tx2">
                    <a:lumMod val="75000"/>
                  </a:schemeClr>
                </a:solidFill>
                <a:latin typeface="Calibri" pitchFamily="34" charset="0"/>
                <a:ea typeface="Calibri" pitchFamily="34" charset="-122"/>
                <a:cs typeface="Calibri" pitchFamily="34" charset="-120"/>
              </a:rPr>
              <a:t> sample)</a:t>
            </a:r>
            <a:endParaRPr lang="en-US" sz="1200" dirty="0">
              <a:solidFill>
                <a:schemeClr val="tx2">
                  <a:lumMod val="75000"/>
                </a:schemeClr>
              </a:solidFill>
            </a:endParaRPr>
          </a:p>
        </p:txBody>
      </p:sp>
      <p:sp>
        <p:nvSpPr>
          <p:cNvPr id="10" name="Text 5">
            <a:extLst>
              <a:ext uri="{FF2B5EF4-FFF2-40B4-BE49-F238E27FC236}">
                <a16:creationId xmlns:a16="http://schemas.microsoft.com/office/drawing/2014/main" id="{22C855DD-522A-E18D-4CF0-7FEF02EE9E1A}"/>
              </a:ext>
            </a:extLst>
          </p:cNvPr>
          <p:cNvSpPr/>
          <p:nvPr/>
        </p:nvSpPr>
        <p:spPr>
          <a:xfrm>
            <a:off x="141850" y="4870788"/>
            <a:ext cx="8503920" cy="256032"/>
          </a:xfrm>
          <a:prstGeom prst="rect">
            <a:avLst/>
          </a:prstGeom>
          <a:noFill/>
          <a:ln/>
        </p:spPr>
        <p:txBody>
          <a:bodyPr wrap="square" lIns="0" tIns="0" rIns="0" bIns="0" rtlCol="0" anchor="ctr"/>
          <a:lstStyle/>
          <a:p>
            <a:pPr marL="0" indent="0" algn="ctr">
              <a:buNone/>
            </a:pPr>
            <a:r>
              <a:rPr lang="en-US" sz="1000" i="1" dirty="0">
                <a:solidFill>
                  <a:srgbClr val="8B949E"/>
                </a:solidFill>
                <a:latin typeface="Calibri" pitchFamily="34" charset="0"/>
                <a:ea typeface="Calibri" pitchFamily="34" charset="-122"/>
                <a:cs typeface="Calibri" pitchFamily="34" charset="-120"/>
              </a:rPr>
              <a:t>green = ground truth   red = prediction</a:t>
            </a:r>
            <a:endParaRPr lang="en-US" sz="1000" dirty="0"/>
          </a:p>
        </p:txBody>
      </p:sp>
      <p:pic>
        <p:nvPicPr>
          <p:cNvPr id="15" name="Kuva 14" descr="Kuva, joka sisältää kohteen kuvakaappaus, teksti&#10;&#10;Tekoälyllä luotu sisältö voi olla virheellistä.">
            <a:extLst>
              <a:ext uri="{FF2B5EF4-FFF2-40B4-BE49-F238E27FC236}">
                <a16:creationId xmlns:a16="http://schemas.microsoft.com/office/drawing/2014/main" id="{EBA23933-06AE-2BDC-9F38-2977FAFBE69F}"/>
              </a:ext>
            </a:extLst>
          </p:cNvPr>
          <p:cNvPicPr>
            <a:picLocks noChangeAspect="1"/>
          </p:cNvPicPr>
          <p:nvPr/>
        </p:nvPicPr>
        <p:blipFill>
          <a:blip r:embed="rId3"/>
          <a:stretch>
            <a:fillRect/>
          </a:stretch>
        </p:blipFill>
        <p:spPr>
          <a:xfrm>
            <a:off x="1309464" y="768331"/>
            <a:ext cx="2549916" cy="1803419"/>
          </a:xfrm>
          <a:prstGeom prst="rect">
            <a:avLst/>
          </a:prstGeom>
        </p:spPr>
      </p:pic>
      <p:pic>
        <p:nvPicPr>
          <p:cNvPr id="17" name="Kuva 16" descr="Kuva, joka sisältää kohteen kuvakaappaus, teksti&#10;&#10;Tekoälyllä luotu sisältö voi olla virheellistä.">
            <a:extLst>
              <a:ext uri="{FF2B5EF4-FFF2-40B4-BE49-F238E27FC236}">
                <a16:creationId xmlns:a16="http://schemas.microsoft.com/office/drawing/2014/main" id="{2C313F3F-593F-9152-45BD-32E024351121}"/>
              </a:ext>
            </a:extLst>
          </p:cNvPr>
          <p:cNvPicPr>
            <a:picLocks noChangeAspect="1"/>
          </p:cNvPicPr>
          <p:nvPr/>
        </p:nvPicPr>
        <p:blipFill>
          <a:blip r:embed="rId4"/>
          <a:stretch>
            <a:fillRect/>
          </a:stretch>
        </p:blipFill>
        <p:spPr>
          <a:xfrm>
            <a:off x="4991025" y="768331"/>
            <a:ext cx="2549918" cy="1803419"/>
          </a:xfrm>
          <a:prstGeom prst="rect">
            <a:avLst/>
          </a:prstGeom>
        </p:spPr>
      </p:pic>
      <p:pic>
        <p:nvPicPr>
          <p:cNvPr id="19" name="Kuva 18" descr="Kuva, joka sisältää kohteen kuvakaappaus, teksti&#10;&#10;Tekoälyllä luotu sisältö voi olla virheellistä.">
            <a:extLst>
              <a:ext uri="{FF2B5EF4-FFF2-40B4-BE49-F238E27FC236}">
                <a16:creationId xmlns:a16="http://schemas.microsoft.com/office/drawing/2014/main" id="{76C0F6AD-7717-AC24-EFF8-5996F82D9F3E}"/>
              </a:ext>
            </a:extLst>
          </p:cNvPr>
          <p:cNvPicPr>
            <a:picLocks noChangeAspect="1"/>
          </p:cNvPicPr>
          <p:nvPr/>
        </p:nvPicPr>
        <p:blipFill>
          <a:blip r:embed="rId5"/>
          <a:stretch>
            <a:fillRect/>
          </a:stretch>
        </p:blipFill>
        <p:spPr>
          <a:xfrm>
            <a:off x="1309464" y="2984080"/>
            <a:ext cx="2549917" cy="1803420"/>
          </a:xfrm>
          <a:prstGeom prst="rect">
            <a:avLst/>
          </a:prstGeom>
        </p:spPr>
      </p:pic>
      <p:pic>
        <p:nvPicPr>
          <p:cNvPr id="21" name="Kuva 20" descr="Kuva, joka sisältää kohteen kuvakaappaus, teksti&#10;&#10;Tekoälyllä luotu sisältö voi olla virheellistä.">
            <a:extLst>
              <a:ext uri="{FF2B5EF4-FFF2-40B4-BE49-F238E27FC236}">
                <a16:creationId xmlns:a16="http://schemas.microsoft.com/office/drawing/2014/main" id="{04F821CF-47AA-1648-A552-28E42C40DAEC}"/>
              </a:ext>
            </a:extLst>
          </p:cNvPr>
          <p:cNvPicPr>
            <a:picLocks noChangeAspect="1"/>
          </p:cNvPicPr>
          <p:nvPr/>
        </p:nvPicPr>
        <p:blipFill>
          <a:blip r:embed="rId6"/>
          <a:stretch>
            <a:fillRect/>
          </a:stretch>
        </p:blipFill>
        <p:spPr>
          <a:xfrm>
            <a:off x="4991026" y="2984081"/>
            <a:ext cx="2549918" cy="1803420"/>
          </a:xfrm>
          <a:prstGeom prst="rect">
            <a:avLst/>
          </a:prstGeom>
        </p:spPr>
      </p:pic>
      <p:sp>
        <p:nvSpPr>
          <p:cNvPr id="22" name="Text 3">
            <a:extLst>
              <a:ext uri="{FF2B5EF4-FFF2-40B4-BE49-F238E27FC236}">
                <a16:creationId xmlns:a16="http://schemas.microsoft.com/office/drawing/2014/main" id="{465B14A1-3248-76C9-E6F5-4111446CCE13}"/>
              </a:ext>
            </a:extLst>
          </p:cNvPr>
          <p:cNvSpPr/>
          <p:nvPr/>
        </p:nvSpPr>
        <p:spPr>
          <a:xfrm>
            <a:off x="4991026" y="2675455"/>
            <a:ext cx="2606040" cy="274320"/>
          </a:xfrm>
          <a:prstGeom prst="rect">
            <a:avLst/>
          </a:prstGeom>
          <a:noFill/>
          <a:ln/>
        </p:spPr>
        <p:txBody>
          <a:bodyPr wrap="square" lIns="0" tIns="0" rIns="0" bIns="0" rtlCol="0" anchor="ctr"/>
          <a:lstStyle/>
          <a:p>
            <a:pPr marL="0" indent="0" algn="ctr">
              <a:buNone/>
            </a:pPr>
            <a:r>
              <a:rPr lang="en-US" sz="1200" b="1" dirty="0" err="1">
                <a:solidFill>
                  <a:srgbClr val="02C39A"/>
                </a:solidFill>
                <a:latin typeface="Calibri" pitchFamily="34" charset="0"/>
                <a:ea typeface="Calibri" pitchFamily="34" charset="-122"/>
                <a:cs typeface="Calibri" pitchFamily="34" charset="-120"/>
              </a:rPr>
              <a:t>RetinaNet</a:t>
            </a:r>
            <a:r>
              <a:rPr lang="en-US" sz="1200" b="1" dirty="0">
                <a:solidFill>
                  <a:srgbClr val="02C39A"/>
                </a:solidFill>
                <a:latin typeface="Calibri" pitchFamily="34" charset="0"/>
                <a:ea typeface="Calibri" pitchFamily="34" charset="-122"/>
                <a:cs typeface="Calibri" pitchFamily="34" charset="-120"/>
              </a:rPr>
              <a:t> (2</a:t>
            </a:r>
            <a:r>
              <a:rPr lang="en-US" sz="1200" b="1" baseline="30000" dirty="0">
                <a:solidFill>
                  <a:srgbClr val="02C39A"/>
                </a:solidFill>
                <a:latin typeface="Calibri" pitchFamily="34" charset="0"/>
                <a:ea typeface="Calibri" pitchFamily="34" charset="-122"/>
                <a:cs typeface="Calibri" pitchFamily="34" charset="-120"/>
              </a:rPr>
              <a:t>nd</a:t>
            </a:r>
            <a:r>
              <a:rPr lang="en-US" sz="1200" b="1" dirty="0">
                <a:solidFill>
                  <a:srgbClr val="02C39A"/>
                </a:solidFill>
                <a:latin typeface="Calibri" pitchFamily="34" charset="0"/>
                <a:ea typeface="Calibri" pitchFamily="34" charset="-122"/>
                <a:cs typeface="Calibri" pitchFamily="34" charset="-120"/>
              </a:rPr>
              <a:t> sample)</a:t>
            </a:r>
            <a:endParaRPr lang="en-US" sz="1200" dirty="0"/>
          </a:p>
        </p:txBody>
      </p:sp>
    </p:spTree>
    <p:extLst>
      <p:ext uri="{BB962C8B-B14F-4D97-AF65-F5344CB8AC3E}">
        <p14:creationId xmlns:p14="http://schemas.microsoft.com/office/powerpoint/2010/main" val="296433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C1650-36BB-770A-E9E6-A1AB754B4A1A}"/>
            </a:ext>
          </a:extLst>
        </p:cNvPr>
        <p:cNvGrpSpPr/>
        <p:nvPr/>
      </p:nvGrpSpPr>
      <p:grpSpPr>
        <a:xfrm>
          <a:off x="0" y="0"/>
          <a:ext cx="0" cy="0"/>
          <a:chOff x="0" y="0"/>
          <a:chExt cx="0" cy="0"/>
        </a:xfrm>
      </p:grpSpPr>
      <p:sp>
        <p:nvSpPr>
          <p:cNvPr id="6" name="Shape 6">
            <a:extLst>
              <a:ext uri="{FF2B5EF4-FFF2-40B4-BE49-F238E27FC236}">
                <a16:creationId xmlns:a16="http://schemas.microsoft.com/office/drawing/2014/main" id="{EF815B53-89E1-EE1B-ADB3-11F565F17930}"/>
              </a:ext>
            </a:extLst>
          </p:cNvPr>
          <p:cNvSpPr/>
          <p:nvPr/>
        </p:nvSpPr>
        <p:spPr>
          <a:xfrm>
            <a:off x="320040" y="2658794"/>
            <a:ext cx="8503920" cy="2029968"/>
          </a:xfrm>
          <a:prstGeom prst="rect">
            <a:avLst/>
          </a:prstGeom>
          <a:solidFill>
            <a:srgbClr val="161B22"/>
          </a:solidFill>
          <a:ln w="12700">
            <a:solidFill>
              <a:srgbClr val="161B22"/>
            </a:solidFill>
            <a:prstDash val="solid"/>
          </a:ln>
          <a:effectLst>
            <a:outerShdw blurRad="101600" dist="38100" dir="8100000" algn="bl" rotWithShape="0">
              <a:srgbClr val="000000">
                <a:alpha val="30000"/>
              </a:srgbClr>
            </a:outerShdw>
          </a:effectLst>
        </p:spPr>
        <p:txBody>
          <a:bodyPr/>
          <a:lstStyle/>
          <a:p>
            <a:endParaRPr lang="LID4096"/>
          </a:p>
        </p:txBody>
      </p:sp>
      <p:sp>
        <p:nvSpPr>
          <p:cNvPr id="3" name="Text 1">
            <a:extLst>
              <a:ext uri="{FF2B5EF4-FFF2-40B4-BE49-F238E27FC236}">
                <a16:creationId xmlns:a16="http://schemas.microsoft.com/office/drawing/2014/main" id="{55C5FA2D-98B6-0D09-1C15-57F285FB8852}"/>
              </a:ext>
            </a:extLst>
          </p:cNvPr>
          <p:cNvSpPr/>
          <p:nvPr/>
        </p:nvSpPr>
        <p:spPr>
          <a:xfrm>
            <a:off x="320040" y="164592"/>
            <a:ext cx="8503920" cy="548640"/>
          </a:xfrm>
          <a:prstGeom prst="rect">
            <a:avLst/>
          </a:prstGeom>
          <a:noFill/>
          <a:ln/>
        </p:spPr>
        <p:txBody>
          <a:bodyPr wrap="square" lIns="0" tIns="0" rIns="0" bIns="0" rtlCol="0" anchor="ctr"/>
          <a:lstStyle/>
          <a:p>
            <a:pPr marL="0" indent="0">
              <a:buNone/>
            </a:pPr>
            <a:r>
              <a:rPr lang="en-US" sz="3000" b="1" dirty="0">
                <a:solidFill>
                  <a:srgbClr val="F0F6FC"/>
                </a:solidFill>
                <a:latin typeface="Calibri" pitchFamily="34" charset="0"/>
                <a:ea typeface="Calibri" pitchFamily="34" charset="-122"/>
                <a:cs typeface="Calibri" pitchFamily="34" charset="-120"/>
              </a:rPr>
              <a:t>Evaluation Results</a:t>
            </a:r>
            <a:endParaRPr lang="en-US" sz="3000" dirty="0"/>
          </a:p>
        </p:txBody>
      </p:sp>
      <p:graphicFrame>
        <p:nvGraphicFramePr>
          <p:cNvPr id="4" name="Table 0">
            <a:extLst>
              <a:ext uri="{FF2B5EF4-FFF2-40B4-BE49-F238E27FC236}">
                <a16:creationId xmlns:a16="http://schemas.microsoft.com/office/drawing/2014/main" id="{975E3739-C5B7-787C-7829-B697ECF53B36}"/>
              </a:ext>
            </a:extLst>
          </p:cNvPr>
          <p:cNvGraphicFramePr>
            <a:graphicFrameLocks noGrp="1"/>
          </p:cNvGraphicFramePr>
          <p:nvPr>
            <p:extLst>
              <p:ext uri="{D42A27DB-BD31-4B8C-83A1-F6EECF244321}">
                <p14:modId xmlns:p14="http://schemas.microsoft.com/office/powerpoint/2010/main" val="3465447108"/>
              </p:ext>
            </p:extLst>
          </p:nvPr>
        </p:nvGraphicFramePr>
        <p:xfrm>
          <a:off x="640080" y="914400"/>
          <a:ext cx="7863840" cy="1234440"/>
        </p:xfrm>
        <a:graphic>
          <a:graphicData uri="http://schemas.openxmlformats.org/drawingml/2006/table">
            <a:tbl>
              <a:tblPr/>
              <a:tblGrid>
                <a:gridCol w="196596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tblGrid>
              <a:tr h="411480">
                <a:tc>
                  <a:txBody>
                    <a:bodyPr/>
                    <a:lstStyle/>
                    <a:p>
                      <a:pPr marL="0" indent="0" algn="ctr">
                        <a:buNone/>
                      </a:pPr>
                      <a:r>
                        <a:rPr lang="en-US" sz="1500" b="1" dirty="0">
                          <a:solidFill>
                            <a:srgbClr val="F0F6FC"/>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a:lnL w="12700" cap="flat" cmpd="sng" algn="ctr">
                      <a:solidFill>
                        <a:srgbClr val="2D3748"/>
                      </a:solidFill>
                      <a:prstDash val="solid"/>
                      <a:round/>
                      <a:headEnd type="none" w="med" len="med"/>
                      <a:tailEnd type="none" w="med" len="med"/>
                    </a:lnL>
                    <a:lnR w="12700" cap="flat" cmpd="sng" algn="ctr">
                      <a:solidFill>
                        <a:srgbClr val="2D3748"/>
                      </a:solidFill>
                      <a:prstDash val="solid"/>
                      <a:round/>
                      <a:headEnd type="none" w="med" len="med"/>
                      <a:tailEnd type="none" w="med" len="med"/>
                    </a:lnR>
                    <a:lnT w="12700" cap="flat" cmpd="sng" algn="ctr">
                      <a:solidFill>
                        <a:srgbClr val="2D3748"/>
                      </a:solidFill>
                      <a:prstDash val="solid"/>
                      <a:round/>
                      <a:headEnd type="none" w="med" len="med"/>
                      <a:tailEnd type="none" w="med" len="med"/>
                    </a:lnT>
                    <a:lnB w="12700" cap="flat" cmpd="sng" algn="ctr">
                      <a:solidFill>
                        <a:srgbClr val="2D3748"/>
                      </a:solidFill>
                      <a:prstDash val="solid"/>
                      <a:round/>
                      <a:headEnd type="none" w="med" len="med"/>
                      <a:tailEnd type="none" w="med" len="med"/>
                    </a:lnB>
                    <a:solidFill>
                      <a:srgbClr val="1C3A4A"/>
                    </a:solidFill>
                  </a:tcPr>
                </a:tc>
                <a:tc>
                  <a:txBody>
                    <a:bodyPr/>
                    <a:lstStyle/>
                    <a:p>
                      <a:pPr marL="0" indent="0" algn="ctr">
                        <a:buNone/>
                      </a:pPr>
                      <a:r>
                        <a:rPr lang="en-US" sz="1500" b="1" dirty="0">
                          <a:solidFill>
                            <a:srgbClr val="F0F6FC"/>
                          </a:solidFill>
                          <a:latin typeface="Calibri" pitchFamily="34" charset="0"/>
                          <a:ea typeface="Calibri" pitchFamily="34" charset="-122"/>
                          <a:cs typeface="Calibri" pitchFamily="34" charset="-120"/>
                        </a:rPr>
                        <a:t>val mAP</a:t>
                      </a:r>
                      <a:endParaRPr lang="en-US" sz="1500" dirty="0">
                        <a:latin typeface="Calibri" charset="0"/>
                        <a:ea typeface="Calibri" charset="0"/>
                        <a:cs typeface="Calibri" charset="0"/>
                      </a:endParaRPr>
                    </a:p>
                  </a:txBody>
                  <a:tcPr>
                    <a:lnL w="12700" cap="flat" cmpd="sng" algn="ctr">
                      <a:solidFill>
                        <a:srgbClr val="2D3748"/>
                      </a:solidFill>
                      <a:prstDash val="solid"/>
                      <a:round/>
                      <a:headEnd type="none" w="med" len="med"/>
                      <a:tailEnd type="none" w="med" len="med"/>
                    </a:lnL>
                    <a:lnR w="12700" cap="flat" cmpd="sng" algn="ctr">
                      <a:solidFill>
                        <a:srgbClr val="2D3748"/>
                      </a:solidFill>
                      <a:prstDash val="solid"/>
                      <a:round/>
                      <a:headEnd type="none" w="med" len="med"/>
                      <a:tailEnd type="none" w="med" len="med"/>
                    </a:lnR>
                    <a:lnT w="12700" cap="flat" cmpd="sng" algn="ctr">
                      <a:solidFill>
                        <a:srgbClr val="2D3748"/>
                      </a:solidFill>
                      <a:prstDash val="solid"/>
                      <a:round/>
                      <a:headEnd type="none" w="med" len="med"/>
                      <a:tailEnd type="none" w="med" len="med"/>
                    </a:lnT>
                    <a:lnB w="12700" cap="flat" cmpd="sng" algn="ctr">
                      <a:solidFill>
                        <a:srgbClr val="2D3748"/>
                      </a:solidFill>
                      <a:prstDash val="solid"/>
                      <a:round/>
                      <a:headEnd type="none" w="med" len="med"/>
                      <a:tailEnd type="none" w="med" len="med"/>
                    </a:lnB>
                    <a:solidFill>
                      <a:srgbClr val="1C3A4A"/>
                    </a:solidFill>
                  </a:tcPr>
                </a:tc>
                <a:tc>
                  <a:txBody>
                    <a:bodyPr/>
                    <a:lstStyle/>
                    <a:p>
                      <a:pPr marL="0" indent="0" algn="ctr">
                        <a:buNone/>
                      </a:pPr>
                      <a:r>
                        <a:rPr lang="en-US" sz="1500" b="1" dirty="0">
                          <a:solidFill>
                            <a:srgbClr val="F0F6FC"/>
                          </a:solidFill>
                          <a:latin typeface="Calibri" pitchFamily="34" charset="0"/>
                          <a:ea typeface="Calibri" pitchFamily="34" charset="-122"/>
                          <a:cs typeface="Calibri" pitchFamily="34" charset="-120"/>
                        </a:rPr>
                        <a:t>val mAP@50</a:t>
                      </a:r>
                      <a:endParaRPr lang="en-US" sz="1500" dirty="0">
                        <a:latin typeface="Calibri" charset="0"/>
                        <a:ea typeface="Calibri" charset="0"/>
                        <a:cs typeface="Calibri" charset="0"/>
                      </a:endParaRPr>
                    </a:p>
                  </a:txBody>
                  <a:tcPr>
                    <a:lnL w="12700" cap="flat" cmpd="sng" algn="ctr">
                      <a:solidFill>
                        <a:srgbClr val="2D3748"/>
                      </a:solidFill>
                      <a:prstDash val="solid"/>
                      <a:round/>
                      <a:headEnd type="none" w="med" len="med"/>
                      <a:tailEnd type="none" w="med" len="med"/>
                    </a:lnL>
                    <a:lnR w="12700" cap="flat" cmpd="sng" algn="ctr">
                      <a:solidFill>
                        <a:srgbClr val="2D3748"/>
                      </a:solidFill>
                      <a:prstDash val="solid"/>
                      <a:round/>
                      <a:headEnd type="none" w="med" len="med"/>
                      <a:tailEnd type="none" w="med" len="med"/>
                    </a:lnR>
                    <a:lnT w="12700" cap="flat" cmpd="sng" algn="ctr">
                      <a:solidFill>
                        <a:srgbClr val="2D3748"/>
                      </a:solidFill>
                      <a:prstDash val="solid"/>
                      <a:round/>
                      <a:headEnd type="none" w="med" len="med"/>
                      <a:tailEnd type="none" w="med" len="med"/>
                    </a:lnT>
                    <a:lnB w="12700" cap="flat" cmpd="sng" algn="ctr">
                      <a:solidFill>
                        <a:srgbClr val="2D3748"/>
                      </a:solidFill>
                      <a:prstDash val="solid"/>
                      <a:round/>
                      <a:headEnd type="none" w="med" len="med"/>
                      <a:tailEnd type="none" w="med" len="med"/>
                    </a:lnB>
                    <a:solidFill>
                      <a:srgbClr val="1C3A4A"/>
                    </a:solidFill>
                  </a:tcPr>
                </a:tc>
                <a:tc>
                  <a:txBody>
                    <a:bodyPr/>
                    <a:lstStyle/>
                    <a:p>
                      <a:pPr marL="0" indent="0" algn="ctr">
                        <a:buNone/>
                      </a:pPr>
                      <a:r>
                        <a:rPr lang="en-US" sz="1500" b="1" dirty="0">
                          <a:solidFill>
                            <a:srgbClr val="F0F6FC"/>
                          </a:solidFill>
                          <a:latin typeface="Calibri" pitchFamily="34" charset="0"/>
                          <a:ea typeface="Calibri" pitchFamily="34" charset="-122"/>
                          <a:cs typeface="Calibri" pitchFamily="34" charset="-120"/>
                        </a:rPr>
                        <a:t>Infer (ms)</a:t>
                      </a:r>
                      <a:endParaRPr lang="en-US" sz="1500" dirty="0">
                        <a:latin typeface="Calibri" charset="0"/>
                        <a:ea typeface="Calibri" charset="0"/>
                        <a:cs typeface="Calibri" charset="0"/>
                      </a:endParaRPr>
                    </a:p>
                  </a:txBody>
                  <a:tcPr>
                    <a:lnL w="12700" cap="flat" cmpd="sng" algn="ctr">
                      <a:solidFill>
                        <a:srgbClr val="2D3748"/>
                      </a:solidFill>
                      <a:prstDash val="solid"/>
                      <a:round/>
                      <a:headEnd type="none" w="med" len="med"/>
                      <a:tailEnd type="none" w="med" len="med"/>
                    </a:lnL>
                    <a:lnR w="12700" cap="flat" cmpd="sng" algn="ctr">
                      <a:solidFill>
                        <a:srgbClr val="2D3748"/>
                      </a:solidFill>
                      <a:prstDash val="solid"/>
                      <a:round/>
                      <a:headEnd type="none" w="med" len="med"/>
                      <a:tailEnd type="none" w="med" len="med"/>
                    </a:lnR>
                    <a:lnT w="12700" cap="flat" cmpd="sng" algn="ctr">
                      <a:solidFill>
                        <a:srgbClr val="2D3748"/>
                      </a:solidFill>
                      <a:prstDash val="solid"/>
                      <a:round/>
                      <a:headEnd type="none" w="med" len="med"/>
                      <a:tailEnd type="none" w="med" len="med"/>
                    </a:lnT>
                    <a:lnB w="12700" cap="flat" cmpd="sng" algn="ctr">
                      <a:solidFill>
                        <a:srgbClr val="2D3748"/>
                      </a:solidFill>
                      <a:prstDash val="solid"/>
                      <a:round/>
                      <a:headEnd type="none" w="med" len="med"/>
                      <a:tailEnd type="none" w="med" len="med"/>
                    </a:lnB>
                    <a:solidFill>
                      <a:srgbClr val="1C3A4A"/>
                    </a:solidFill>
                  </a:tcPr>
                </a:tc>
                <a:extLst>
                  <a:ext uri="{0D108BD9-81ED-4DB2-BD59-A6C34878D82A}">
                    <a16:rowId xmlns:a16="http://schemas.microsoft.com/office/drawing/2014/main" val="10000"/>
                  </a:ext>
                </a:extLst>
              </a:tr>
              <a:tr h="411480">
                <a:tc>
                  <a:txBody>
                    <a:bodyPr/>
                    <a:lstStyle/>
                    <a:p>
                      <a:pPr marL="0" indent="0" algn="ctr">
                        <a:buNone/>
                      </a:pPr>
                      <a:r>
                        <a:rPr lang="en-US" sz="1500" b="1" dirty="0">
                          <a:solidFill>
                            <a:schemeClr val="tx2">
                              <a:lumMod val="75000"/>
                            </a:schemeClr>
                          </a:solidFill>
                          <a:latin typeface="Calibri" pitchFamily="34" charset="0"/>
                          <a:ea typeface="Calibri" pitchFamily="34" charset="-122"/>
                          <a:cs typeface="Calibri" pitchFamily="34" charset="-120"/>
                        </a:rPr>
                        <a:t>Faster R-CNN</a:t>
                      </a:r>
                      <a:endParaRPr lang="en-US" sz="1500" dirty="0">
                        <a:solidFill>
                          <a:schemeClr val="tx2">
                            <a:lumMod val="75000"/>
                          </a:schemeClr>
                        </a:solidFill>
                        <a:latin typeface="Calibri" charset="0"/>
                        <a:ea typeface="Calibri" charset="0"/>
                        <a:cs typeface="Calibri" charset="0"/>
                      </a:endParaRPr>
                    </a:p>
                  </a:txBody>
                  <a:tcPr>
                    <a:lnL w="12700" cap="flat" cmpd="sng" algn="ctr">
                      <a:solidFill>
                        <a:srgbClr val="2D3748"/>
                      </a:solidFill>
                      <a:prstDash val="solid"/>
                      <a:round/>
                      <a:headEnd type="none" w="med" len="med"/>
                      <a:tailEnd type="none" w="med" len="med"/>
                    </a:lnL>
                    <a:lnR w="12700" cap="flat" cmpd="sng" algn="ctr">
                      <a:solidFill>
                        <a:srgbClr val="2D3748"/>
                      </a:solidFill>
                      <a:prstDash val="solid"/>
                      <a:round/>
                      <a:headEnd type="none" w="med" len="med"/>
                      <a:tailEnd type="none" w="med" len="med"/>
                    </a:lnR>
                    <a:lnT w="12700" cap="flat" cmpd="sng" algn="ctr">
                      <a:solidFill>
                        <a:srgbClr val="2D3748"/>
                      </a:solidFill>
                      <a:prstDash val="solid"/>
                      <a:round/>
                      <a:headEnd type="none" w="med" len="med"/>
                      <a:tailEnd type="none" w="med" len="med"/>
                    </a:lnT>
                    <a:lnB w="12700" cap="flat" cmpd="sng" algn="ctr">
                      <a:solidFill>
                        <a:srgbClr val="2D3748"/>
                      </a:solidFill>
                      <a:prstDash val="solid"/>
                      <a:round/>
                      <a:headEnd type="none" w="med" len="med"/>
                      <a:tailEnd type="none" w="med" len="med"/>
                    </a:lnB>
                    <a:solidFill>
                      <a:srgbClr val="161B22"/>
                    </a:solidFill>
                  </a:tcPr>
                </a:tc>
                <a:tc>
                  <a:txBody>
                    <a:bodyPr/>
                    <a:lstStyle/>
                    <a:p>
                      <a:pPr marL="0" indent="0" algn="ctr">
                        <a:buNone/>
                      </a:pPr>
                      <a:r>
                        <a:rPr lang="en-US" sz="1500" dirty="0">
                          <a:solidFill>
                            <a:srgbClr val="39D353"/>
                          </a:solidFill>
                          <a:latin typeface="Calibri" pitchFamily="34" charset="0"/>
                          <a:ea typeface="Calibri" pitchFamily="34" charset="-122"/>
                          <a:cs typeface="Calibri" pitchFamily="34" charset="-120"/>
                        </a:rPr>
                        <a:t>0.7084</a:t>
                      </a:r>
                      <a:endParaRPr lang="en-US" sz="1500" dirty="0">
                        <a:latin typeface="Calibri" charset="0"/>
                        <a:ea typeface="Calibri" charset="0"/>
                        <a:cs typeface="Calibri" charset="0"/>
                      </a:endParaRPr>
                    </a:p>
                  </a:txBody>
                  <a:tcPr>
                    <a:lnL w="12700" cap="flat" cmpd="sng" algn="ctr">
                      <a:solidFill>
                        <a:srgbClr val="2D3748"/>
                      </a:solidFill>
                      <a:prstDash val="solid"/>
                      <a:round/>
                      <a:headEnd type="none" w="med" len="med"/>
                      <a:tailEnd type="none" w="med" len="med"/>
                    </a:lnL>
                    <a:lnR w="12700" cap="flat" cmpd="sng" algn="ctr">
                      <a:solidFill>
                        <a:srgbClr val="2D3748"/>
                      </a:solidFill>
                      <a:prstDash val="solid"/>
                      <a:round/>
                      <a:headEnd type="none" w="med" len="med"/>
                      <a:tailEnd type="none" w="med" len="med"/>
                    </a:lnR>
                    <a:lnT w="12700" cap="flat" cmpd="sng" algn="ctr">
                      <a:solidFill>
                        <a:srgbClr val="2D3748"/>
                      </a:solidFill>
                      <a:prstDash val="solid"/>
                      <a:round/>
                      <a:headEnd type="none" w="med" len="med"/>
                      <a:tailEnd type="none" w="med" len="med"/>
                    </a:lnT>
                    <a:lnB w="12700" cap="flat" cmpd="sng" algn="ctr">
                      <a:solidFill>
                        <a:srgbClr val="2D3748"/>
                      </a:solidFill>
                      <a:prstDash val="solid"/>
                      <a:round/>
                      <a:headEnd type="none" w="med" len="med"/>
                      <a:tailEnd type="none" w="med" len="med"/>
                    </a:lnB>
                    <a:solidFill>
                      <a:srgbClr val="161B22"/>
                    </a:solidFill>
                  </a:tcPr>
                </a:tc>
                <a:tc>
                  <a:txBody>
                    <a:bodyPr/>
                    <a:lstStyle/>
                    <a:p>
                      <a:pPr marL="0" indent="0" algn="ctr">
                        <a:buNone/>
                      </a:pPr>
                      <a:r>
                        <a:rPr lang="en-US" sz="1500" dirty="0">
                          <a:solidFill>
                            <a:srgbClr val="39D353"/>
                          </a:solidFill>
                          <a:latin typeface="Calibri" pitchFamily="34" charset="0"/>
                          <a:ea typeface="Calibri" pitchFamily="34" charset="-122"/>
                          <a:cs typeface="Calibri" pitchFamily="34" charset="-120"/>
                        </a:rPr>
                        <a:t>0.9988</a:t>
                      </a:r>
                      <a:endParaRPr lang="en-US" sz="1500" dirty="0">
                        <a:latin typeface="Calibri" charset="0"/>
                        <a:ea typeface="Calibri" charset="0"/>
                        <a:cs typeface="Calibri" charset="0"/>
                      </a:endParaRPr>
                    </a:p>
                  </a:txBody>
                  <a:tcPr>
                    <a:lnL w="12700" cap="flat" cmpd="sng" algn="ctr">
                      <a:solidFill>
                        <a:srgbClr val="2D3748"/>
                      </a:solidFill>
                      <a:prstDash val="solid"/>
                      <a:round/>
                      <a:headEnd type="none" w="med" len="med"/>
                      <a:tailEnd type="none" w="med" len="med"/>
                    </a:lnL>
                    <a:lnR w="12700" cap="flat" cmpd="sng" algn="ctr">
                      <a:solidFill>
                        <a:srgbClr val="2D3748"/>
                      </a:solidFill>
                      <a:prstDash val="solid"/>
                      <a:round/>
                      <a:headEnd type="none" w="med" len="med"/>
                      <a:tailEnd type="none" w="med" len="med"/>
                    </a:lnR>
                    <a:lnT w="12700" cap="flat" cmpd="sng" algn="ctr">
                      <a:solidFill>
                        <a:srgbClr val="2D3748"/>
                      </a:solidFill>
                      <a:prstDash val="solid"/>
                      <a:round/>
                      <a:headEnd type="none" w="med" len="med"/>
                      <a:tailEnd type="none" w="med" len="med"/>
                    </a:lnT>
                    <a:lnB w="12700" cap="flat" cmpd="sng" algn="ctr">
                      <a:solidFill>
                        <a:srgbClr val="2D3748"/>
                      </a:solidFill>
                      <a:prstDash val="solid"/>
                      <a:round/>
                      <a:headEnd type="none" w="med" len="med"/>
                      <a:tailEnd type="none" w="med" len="med"/>
                    </a:lnB>
                    <a:solidFill>
                      <a:srgbClr val="161B22"/>
                    </a:solidFill>
                  </a:tcPr>
                </a:tc>
                <a:tc>
                  <a:txBody>
                    <a:bodyPr/>
                    <a:lstStyle/>
                    <a:p>
                      <a:pPr marL="0" indent="0" algn="ctr">
                        <a:buNone/>
                      </a:pPr>
                      <a:r>
                        <a:rPr lang="en-US" sz="1500" dirty="0">
                          <a:solidFill>
                            <a:srgbClr val="F78166"/>
                          </a:solidFill>
                          <a:latin typeface="Calibri" pitchFamily="34" charset="0"/>
                          <a:ea typeface="Calibri" pitchFamily="34" charset="-122"/>
                          <a:cs typeface="Calibri" pitchFamily="34" charset="-120"/>
                        </a:rPr>
                        <a:t>91.1 ± 4.6</a:t>
                      </a:r>
                      <a:endParaRPr lang="en-US" sz="1500" dirty="0">
                        <a:latin typeface="Calibri" charset="0"/>
                        <a:ea typeface="Calibri" charset="0"/>
                        <a:cs typeface="Calibri" charset="0"/>
                      </a:endParaRPr>
                    </a:p>
                  </a:txBody>
                  <a:tcPr>
                    <a:lnL w="12700" cap="flat" cmpd="sng" algn="ctr">
                      <a:solidFill>
                        <a:srgbClr val="2D3748"/>
                      </a:solidFill>
                      <a:prstDash val="solid"/>
                      <a:round/>
                      <a:headEnd type="none" w="med" len="med"/>
                      <a:tailEnd type="none" w="med" len="med"/>
                    </a:lnL>
                    <a:lnR w="12700" cap="flat" cmpd="sng" algn="ctr">
                      <a:solidFill>
                        <a:srgbClr val="2D3748"/>
                      </a:solidFill>
                      <a:prstDash val="solid"/>
                      <a:round/>
                      <a:headEnd type="none" w="med" len="med"/>
                      <a:tailEnd type="none" w="med" len="med"/>
                    </a:lnR>
                    <a:lnT w="12700" cap="flat" cmpd="sng" algn="ctr">
                      <a:solidFill>
                        <a:srgbClr val="2D3748"/>
                      </a:solidFill>
                      <a:prstDash val="solid"/>
                      <a:round/>
                      <a:headEnd type="none" w="med" len="med"/>
                      <a:tailEnd type="none" w="med" len="med"/>
                    </a:lnT>
                    <a:lnB w="12700" cap="flat" cmpd="sng" algn="ctr">
                      <a:solidFill>
                        <a:srgbClr val="2D3748"/>
                      </a:solidFill>
                      <a:prstDash val="solid"/>
                      <a:round/>
                      <a:headEnd type="none" w="med" len="med"/>
                      <a:tailEnd type="none" w="med" len="med"/>
                    </a:lnB>
                    <a:solidFill>
                      <a:srgbClr val="161B22"/>
                    </a:solidFill>
                  </a:tcPr>
                </a:tc>
                <a:extLst>
                  <a:ext uri="{0D108BD9-81ED-4DB2-BD59-A6C34878D82A}">
                    <a16:rowId xmlns:a16="http://schemas.microsoft.com/office/drawing/2014/main" val="10001"/>
                  </a:ext>
                </a:extLst>
              </a:tr>
              <a:tr h="411480">
                <a:tc>
                  <a:txBody>
                    <a:bodyPr/>
                    <a:lstStyle/>
                    <a:p>
                      <a:pPr marL="0" indent="0" algn="ctr">
                        <a:buNone/>
                      </a:pPr>
                      <a:r>
                        <a:rPr lang="en-US" sz="1500" b="1" dirty="0">
                          <a:solidFill>
                            <a:schemeClr val="tx2">
                              <a:lumMod val="75000"/>
                            </a:schemeClr>
                          </a:solidFill>
                          <a:latin typeface="Calibri" pitchFamily="34" charset="0"/>
                          <a:ea typeface="Calibri" pitchFamily="34" charset="-122"/>
                          <a:cs typeface="Calibri" pitchFamily="34" charset="-120"/>
                        </a:rPr>
                        <a:t>RetinaNet</a:t>
                      </a:r>
                      <a:endParaRPr lang="en-US" sz="1500" dirty="0">
                        <a:solidFill>
                          <a:schemeClr val="tx2">
                            <a:lumMod val="75000"/>
                          </a:schemeClr>
                        </a:solidFill>
                        <a:latin typeface="Calibri" charset="0"/>
                        <a:ea typeface="Calibri" charset="0"/>
                        <a:cs typeface="Calibri" charset="0"/>
                      </a:endParaRPr>
                    </a:p>
                  </a:txBody>
                  <a:tcPr>
                    <a:lnL w="12700" cap="flat" cmpd="sng" algn="ctr">
                      <a:solidFill>
                        <a:srgbClr val="2D3748"/>
                      </a:solidFill>
                      <a:prstDash val="solid"/>
                      <a:round/>
                      <a:headEnd type="none" w="med" len="med"/>
                      <a:tailEnd type="none" w="med" len="med"/>
                    </a:lnL>
                    <a:lnR w="12700" cap="flat" cmpd="sng" algn="ctr">
                      <a:solidFill>
                        <a:srgbClr val="2D3748"/>
                      </a:solidFill>
                      <a:prstDash val="solid"/>
                      <a:round/>
                      <a:headEnd type="none" w="med" len="med"/>
                      <a:tailEnd type="none" w="med" len="med"/>
                    </a:lnR>
                    <a:lnT w="12700" cap="flat" cmpd="sng" algn="ctr">
                      <a:solidFill>
                        <a:srgbClr val="2D3748"/>
                      </a:solidFill>
                      <a:prstDash val="solid"/>
                      <a:round/>
                      <a:headEnd type="none" w="med" len="med"/>
                      <a:tailEnd type="none" w="med" len="med"/>
                    </a:lnT>
                    <a:lnB w="12700" cap="flat" cmpd="sng" algn="ctr">
                      <a:solidFill>
                        <a:srgbClr val="2D3748"/>
                      </a:solidFill>
                      <a:prstDash val="solid"/>
                      <a:round/>
                      <a:headEnd type="none" w="med" len="med"/>
                      <a:tailEnd type="none" w="med" len="med"/>
                    </a:lnB>
                    <a:solidFill>
                      <a:srgbClr val="0D1B22"/>
                    </a:solidFill>
                  </a:tcPr>
                </a:tc>
                <a:tc>
                  <a:txBody>
                    <a:bodyPr/>
                    <a:lstStyle/>
                    <a:p>
                      <a:pPr marL="0" indent="0" algn="ctr">
                        <a:buNone/>
                      </a:pPr>
                      <a:r>
                        <a:rPr lang="en-US" sz="1500" dirty="0">
                          <a:solidFill>
                            <a:srgbClr val="02C39A"/>
                          </a:solidFill>
                          <a:latin typeface="Calibri" pitchFamily="34" charset="0"/>
                          <a:ea typeface="Calibri" pitchFamily="34" charset="-122"/>
                          <a:cs typeface="Calibri" pitchFamily="34" charset="-120"/>
                        </a:rPr>
                        <a:t>0.6372</a:t>
                      </a:r>
                      <a:endParaRPr lang="en-US" sz="1500" dirty="0">
                        <a:latin typeface="Calibri" charset="0"/>
                        <a:ea typeface="Calibri" charset="0"/>
                        <a:cs typeface="Calibri" charset="0"/>
                      </a:endParaRPr>
                    </a:p>
                  </a:txBody>
                  <a:tcPr>
                    <a:lnL w="12700" cap="flat" cmpd="sng" algn="ctr">
                      <a:solidFill>
                        <a:srgbClr val="2D3748"/>
                      </a:solidFill>
                      <a:prstDash val="solid"/>
                      <a:round/>
                      <a:headEnd type="none" w="med" len="med"/>
                      <a:tailEnd type="none" w="med" len="med"/>
                    </a:lnL>
                    <a:lnR w="12700" cap="flat" cmpd="sng" algn="ctr">
                      <a:solidFill>
                        <a:srgbClr val="2D3748"/>
                      </a:solidFill>
                      <a:prstDash val="solid"/>
                      <a:round/>
                      <a:headEnd type="none" w="med" len="med"/>
                      <a:tailEnd type="none" w="med" len="med"/>
                    </a:lnR>
                    <a:lnT w="12700" cap="flat" cmpd="sng" algn="ctr">
                      <a:solidFill>
                        <a:srgbClr val="2D3748"/>
                      </a:solidFill>
                      <a:prstDash val="solid"/>
                      <a:round/>
                      <a:headEnd type="none" w="med" len="med"/>
                      <a:tailEnd type="none" w="med" len="med"/>
                    </a:lnT>
                    <a:lnB w="12700" cap="flat" cmpd="sng" algn="ctr">
                      <a:solidFill>
                        <a:srgbClr val="2D3748"/>
                      </a:solidFill>
                      <a:prstDash val="solid"/>
                      <a:round/>
                      <a:headEnd type="none" w="med" len="med"/>
                      <a:tailEnd type="none" w="med" len="med"/>
                    </a:lnB>
                    <a:solidFill>
                      <a:srgbClr val="0D1B22"/>
                    </a:solidFill>
                  </a:tcPr>
                </a:tc>
                <a:tc>
                  <a:txBody>
                    <a:bodyPr/>
                    <a:lstStyle/>
                    <a:p>
                      <a:pPr marL="0" indent="0" algn="ctr">
                        <a:buNone/>
                      </a:pPr>
                      <a:r>
                        <a:rPr lang="en-US" sz="1500" dirty="0">
                          <a:solidFill>
                            <a:srgbClr val="02C39A"/>
                          </a:solidFill>
                          <a:latin typeface="Calibri" pitchFamily="34" charset="0"/>
                          <a:ea typeface="Calibri" pitchFamily="34" charset="-122"/>
                          <a:cs typeface="Calibri" pitchFamily="34" charset="-120"/>
                        </a:rPr>
                        <a:t>0.9737</a:t>
                      </a:r>
                      <a:endParaRPr lang="en-US" sz="1500" dirty="0">
                        <a:latin typeface="Calibri" charset="0"/>
                        <a:ea typeface="Calibri" charset="0"/>
                        <a:cs typeface="Calibri" charset="0"/>
                      </a:endParaRPr>
                    </a:p>
                  </a:txBody>
                  <a:tcPr>
                    <a:lnL w="12700" cap="flat" cmpd="sng" algn="ctr">
                      <a:solidFill>
                        <a:srgbClr val="2D3748"/>
                      </a:solidFill>
                      <a:prstDash val="solid"/>
                      <a:round/>
                      <a:headEnd type="none" w="med" len="med"/>
                      <a:tailEnd type="none" w="med" len="med"/>
                    </a:lnL>
                    <a:lnR w="12700" cap="flat" cmpd="sng" algn="ctr">
                      <a:solidFill>
                        <a:srgbClr val="2D3748"/>
                      </a:solidFill>
                      <a:prstDash val="solid"/>
                      <a:round/>
                      <a:headEnd type="none" w="med" len="med"/>
                      <a:tailEnd type="none" w="med" len="med"/>
                    </a:lnR>
                    <a:lnT w="12700" cap="flat" cmpd="sng" algn="ctr">
                      <a:solidFill>
                        <a:srgbClr val="2D3748"/>
                      </a:solidFill>
                      <a:prstDash val="solid"/>
                      <a:round/>
                      <a:headEnd type="none" w="med" len="med"/>
                      <a:tailEnd type="none" w="med" len="med"/>
                    </a:lnT>
                    <a:lnB w="12700" cap="flat" cmpd="sng" algn="ctr">
                      <a:solidFill>
                        <a:srgbClr val="2D3748"/>
                      </a:solidFill>
                      <a:prstDash val="solid"/>
                      <a:round/>
                      <a:headEnd type="none" w="med" len="med"/>
                      <a:tailEnd type="none" w="med" len="med"/>
                    </a:lnB>
                    <a:solidFill>
                      <a:srgbClr val="0D1B22"/>
                    </a:solidFill>
                  </a:tcPr>
                </a:tc>
                <a:tc>
                  <a:txBody>
                    <a:bodyPr/>
                    <a:lstStyle/>
                    <a:p>
                      <a:pPr marL="0" indent="0" algn="ctr">
                        <a:buNone/>
                      </a:pPr>
                      <a:r>
                        <a:rPr lang="en-US" sz="1500" dirty="0">
                          <a:solidFill>
                            <a:srgbClr val="39D353"/>
                          </a:solidFill>
                          <a:latin typeface="Calibri" pitchFamily="34" charset="0"/>
                          <a:ea typeface="Calibri" pitchFamily="34" charset="-122"/>
                          <a:cs typeface="Calibri" pitchFamily="34" charset="-120"/>
                        </a:rPr>
                        <a:t>60.8 ± 2.8</a:t>
                      </a:r>
                      <a:endParaRPr lang="en-US" sz="1500" dirty="0">
                        <a:latin typeface="Calibri" charset="0"/>
                        <a:ea typeface="Calibri" charset="0"/>
                        <a:cs typeface="Calibri" charset="0"/>
                      </a:endParaRPr>
                    </a:p>
                  </a:txBody>
                  <a:tcPr>
                    <a:lnL w="12700" cap="flat" cmpd="sng" algn="ctr">
                      <a:solidFill>
                        <a:srgbClr val="2D3748"/>
                      </a:solidFill>
                      <a:prstDash val="solid"/>
                      <a:round/>
                      <a:headEnd type="none" w="med" len="med"/>
                      <a:tailEnd type="none" w="med" len="med"/>
                    </a:lnL>
                    <a:lnR w="12700" cap="flat" cmpd="sng" algn="ctr">
                      <a:solidFill>
                        <a:srgbClr val="2D3748"/>
                      </a:solidFill>
                      <a:prstDash val="solid"/>
                      <a:round/>
                      <a:headEnd type="none" w="med" len="med"/>
                      <a:tailEnd type="none" w="med" len="med"/>
                    </a:lnR>
                    <a:lnT w="12700" cap="flat" cmpd="sng" algn="ctr">
                      <a:solidFill>
                        <a:srgbClr val="2D3748"/>
                      </a:solidFill>
                      <a:prstDash val="solid"/>
                      <a:round/>
                      <a:headEnd type="none" w="med" len="med"/>
                      <a:tailEnd type="none" w="med" len="med"/>
                    </a:lnT>
                    <a:lnB w="12700" cap="flat" cmpd="sng" algn="ctr">
                      <a:solidFill>
                        <a:srgbClr val="2D3748"/>
                      </a:solidFill>
                      <a:prstDash val="solid"/>
                      <a:round/>
                      <a:headEnd type="none" w="med" len="med"/>
                      <a:tailEnd type="none" w="med" len="med"/>
                    </a:lnB>
                    <a:solidFill>
                      <a:srgbClr val="0D1B22"/>
                    </a:solidFill>
                  </a:tcPr>
                </a:tc>
                <a:extLst>
                  <a:ext uri="{0D108BD9-81ED-4DB2-BD59-A6C34878D82A}">
                    <a16:rowId xmlns:a16="http://schemas.microsoft.com/office/drawing/2014/main" val="10002"/>
                  </a:ext>
                </a:extLst>
              </a:tr>
            </a:tbl>
          </a:graphicData>
        </a:graphic>
      </p:graphicFrame>
      <p:sp>
        <p:nvSpPr>
          <p:cNvPr id="15" name="Text 12">
            <a:extLst>
              <a:ext uri="{FF2B5EF4-FFF2-40B4-BE49-F238E27FC236}">
                <a16:creationId xmlns:a16="http://schemas.microsoft.com/office/drawing/2014/main" id="{43C1ED20-F436-12FF-1AF1-6C23D95E34D7}"/>
              </a:ext>
            </a:extLst>
          </p:cNvPr>
          <p:cNvSpPr/>
          <p:nvPr/>
        </p:nvSpPr>
        <p:spPr>
          <a:xfrm>
            <a:off x="6126480" y="2697480"/>
            <a:ext cx="2606040" cy="640080"/>
          </a:xfrm>
          <a:prstGeom prst="rect">
            <a:avLst/>
          </a:prstGeom>
          <a:noFill/>
          <a:ln/>
        </p:spPr>
        <p:txBody>
          <a:bodyPr wrap="square" lIns="0" tIns="0" rIns="0" bIns="0" rtlCol="0" anchor="ctr"/>
          <a:lstStyle/>
          <a:p>
            <a:pPr marL="0" indent="0" algn="ctr">
              <a:buNone/>
            </a:pPr>
            <a:endParaRPr lang="en-US" sz="2800" dirty="0"/>
          </a:p>
        </p:txBody>
      </p:sp>
      <p:sp>
        <p:nvSpPr>
          <p:cNvPr id="16" name="Text 13">
            <a:extLst>
              <a:ext uri="{FF2B5EF4-FFF2-40B4-BE49-F238E27FC236}">
                <a16:creationId xmlns:a16="http://schemas.microsoft.com/office/drawing/2014/main" id="{F0A1CF0D-1FAB-822F-4F52-2125709BA003}"/>
              </a:ext>
            </a:extLst>
          </p:cNvPr>
          <p:cNvSpPr/>
          <p:nvPr/>
        </p:nvSpPr>
        <p:spPr>
          <a:xfrm>
            <a:off x="6126480" y="3337560"/>
            <a:ext cx="2606040" cy="548640"/>
          </a:xfrm>
          <a:prstGeom prst="rect">
            <a:avLst/>
          </a:prstGeom>
          <a:noFill/>
          <a:ln/>
        </p:spPr>
        <p:txBody>
          <a:bodyPr wrap="square" lIns="0" tIns="0" rIns="0" bIns="0" rtlCol="0" anchor="ctr"/>
          <a:lstStyle/>
          <a:p>
            <a:pPr marL="0" indent="0" algn="ctr">
              <a:buNone/>
            </a:pPr>
            <a:endParaRPr lang="en-US" sz="1200" dirty="0"/>
          </a:p>
        </p:txBody>
      </p:sp>
      <p:sp>
        <p:nvSpPr>
          <p:cNvPr id="13" name="Text 8">
            <a:extLst>
              <a:ext uri="{FF2B5EF4-FFF2-40B4-BE49-F238E27FC236}">
                <a16:creationId xmlns:a16="http://schemas.microsoft.com/office/drawing/2014/main" id="{61761E7D-7DE8-31DD-F784-B3C2469242A4}"/>
              </a:ext>
            </a:extLst>
          </p:cNvPr>
          <p:cNvSpPr/>
          <p:nvPr/>
        </p:nvSpPr>
        <p:spPr>
          <a:xfrm>
            <a:off x="411480" y="2697480"/>
            <a:ext cx="8229600" cy="1828800"/>
          </a:xfrm>
          <a:prstGeom prst="rect">
            <a:avLst/>
          </a:prstGeom>
          <a:noFill/>
          <a:ln/>
        </p:spPr>
        <p:txBody>
          <a:bodyPr wrap="square" lIns="0" tIns="0" rIns="0" bIns="0" rtlCol="0" anchor="t"/>
          <a:lstStyle/>
          <a:p>
            <a:pPr marL="0" indent="0">
              <a:spcAft>
                <a:spcPts val="600"/>
              </a:spcAft>
              <a:buNone/>
            </a:pPr>
            <a:r>
              <a:rPr lang="en-US" sz="1200" b="1" dirty="0">
                <a:solidFill>
                  <a:schemeClr val="tx2">
                    <a:lumMod val="75000"/>
                  </a:schemeClr>
                </a:solidFill>
                <a:latin typeface="Calibri" pitchFamily="34" charset="0"/>
                <a:ea typeface="Calibri" pitchFamily="34" charset="-122"/>
                <a:cs typeface="Calibri" pitchFamily="34" charset="-120"/>
              </a:rPr>
              <a:t>Faster R-CNN</a:t>
            </a:r>
            <a:r>
              <a:rPr lang="en-US" sz="1200" dirty="0">
                <a:solidFill>
                  <a:schemeClr val="tx2">
                    <a:lumMod val="75000"/>
                  </a:schemeClr>
                </a:solidFill>
                <a:latin typeface="Calibri" pitchFamily="34" charset="0"/>
                <a:ea typeface="Calibri" pitchFamily="34" charset="-122"/>
                <a:cs typeface="Calibri" pitchFamily="34" charset="-120"/>
              </a:rPr>
              <a:t> </a:t>
            </a:r>
            <a:r>
              <a:rPr lang="en-US" sz="1200" dirty="0">
                <a:solidFill>
                  <a:srgbClr val="F0F6FC"/>
                </a:solidFill>
                <a:latin typeface="Calibri" pitchFamily="34" charset="0"/>
                <a:ea typeface="Calibri" pitchFamily="34" charset="-122"/>
                <a:cs typeface="Calibri" pitchFamily="34" charset="-120"/>
              </a:rPr>
              <a:t>achieved higher accuracy (mAP 0.708 vs 0.637) — the two-stage region-proposal step improves localisation on small thermal targets.</a:t>
            </a:r>
            <a:endParaRPr lang="en-US" sz="1200" dirty="0"/>
          </a:p>
          <a:p>
            <a:pPr marL="0" indent="0">
              <a:spcAft>
                <a:spcPts val="600"/>
              </a:spcAft>
              <a:buNone/>
            </a:pPr>
            <a:r>
              <a:rPr lang="en-US" sz="1200" b="1" dirty="0">
                <a:solidFill>
                  <a:srgbClr val="02C39A"/>
                </a:solidFill>
                <a:latin typeface="Calibri" pitchFamily="34" charset="0"/>
                <a:ea typeface="Calibri" pitchFamily="34" charset="-122"/>
                <a:cs typeface="Calibri" pitchFamily="34" charset="-120"/>
              </a:rPr>
              <a:t>RetinaNet</a:t>
            </a:r>
            <a:r>
              <a:rPr lang="en-US" sz="1200" dirty="0">
                <a:solidFill>
                  <a:srgbClr val="F0F6FC"/>
                </a:solidFill>
                <a:latin typeface="Calibri" pitchFamily="34" charset="0"/>
                <a:ea typeface="Calibri" pitchFamily="34" charset="-122"/>
                <a:cs typeface="Calibri" pitchFamily="34" charset="-120"/>
              </a:rPr>
              <a:t> is 33% faster at inference (61 ms vs 91 ms) — ideal for real-time or embedded deployments where speed matters.</a:t>
            </a:r>
            <a:endParaRPr lang="en-US" sz="1200" dirty="0"/>
          </a:p>
          <a:p>
            <a:pPr marL="0" indent="0">
              <a:spcAft>
                <a:spcPts val="600"/>
              </a:spcAft>
              <a:buNone/>
            </a:pPr>
            <a:r>
              <a:rPr lang="en-US" sz="1200" b="1" dirty="0">
                <a:solidFill>
                  <a:srgbClr val="F78166"/>
                </a:solidFill>
                <a:latin typeface="Calibri" pitchFamily="34" charset="0"/>
                <a:ea typeface="Calibri" pitchFamily="34" charset="-122"/>
                <a:cs typeface="Calibri" pitchFamily="34" charset="-120"/>
              </a:rPr>
              <a:t>Both models</a:t>
            </a:r>
            <a:r>
              <a:rPr lang="en-US" sz="1200" dirty="0">
                <a:solidFill>
                  <a:srgbClr val="F0F6FC"/>
                </a:solidFill>
                <a:latin typeface="Calibri" pitchFamily="34" charset="0"/>
                <a:ea typeface="Calibri" pitchFamily="34" charset="-122"/>
                <a:cs typeface="Calibri" pitchFamily="34" charset="-120"/>
              </a:rPr>
              <a:t> reach near-perfect mAP@50 (&gt;97%), confirming that transfer learning from ImageNet generalises well to thermal imagery even with frozen backbones. </a:t>
            </a:r>
          </a:p>
          <a:p>
            <a:pPr marL="0" indent="0">
              <a:spcAft>
                <a:spcPts val="600"/>
              </a:spcAft>
              <a:buNone/>
            </a:pPr>
            <a:r>
              <a:rPr lang="en-US" sz="1200" dirty="0">
                <a:solidFill>
                  <a:srgbClr val="F0F6FC"/>
                </a:solidFill>
                <a:latin typeface="Calibri" pitchFamily="34" charset="0"/>
                <a:ea typeface="Calibri" pitchFamily="34" charset="-122"/>
                <a:cs typeface="Calibri" pitchFamily="34" charset="-120"/>
              </a:rPr>
              <a:t>For this dataset both models generalize well, but the images are very similar due to fixed camera position, conditions and nature of infrared image color profile. There is no training set in this split which could have made validating more reliable.</a:t>
            </a:r>
          </a:p>
          <a:p>
            <a:pPr marL="0" indent="0">
              <a:spcAft>
                <a:spcPts val="600"/>
              </a:spcAft>
              <a:buNone/>
            </a:pPr>
            <a:endParaRPr lang="en-US" sz="1250" dirty="0">
              <a:solidFill>
                <a:srgbClr val="F0F6FC"/>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472882395"/>
      </p:ext>
    </p:extLst>
  </p:cSld>
  <p:clrMapOvr>
    <a:masterClrMapping/>
  </p:clrMapOvr>
</p:sld>
</file>

<file path=ppt/theme/theme1.xml><?xml version="1.0" encoding="utf-8"?>
<a:theme xmlns:a="http://schemas.openxmlformats.org/drawingml/2006/main" name="Sektori">
  <a:themeElements>
    <a:clrScheme name="Sektori">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ktori">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ektori">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te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54</TotalTime>
  <Words>457</Words>
  <Application>Microsoft Office PowerPoint</Application>
  <PresentationFormat>Näytössä katseltava esitys (16:9)</PresentationFormat>
  <Paragraphs>49</Paragraphs>
  <Slides>5</Slides>
  <Notes>5</Notes>
  <HiddenSlides>0</HiddenSlides>
  <MMClips>0</MMClips>
  <ScaleCrop>false</ScaleCrop>
  <HeadingPairs>
    <vt:vector size="6" baseType="variant">
      <vt:variant>
        <vt:lpstr>Käytetyt fontit</vt:lpstr>
      </vt:variant>
      <vt:variant>
        <vt:i4>4</vt:i4>
      </vt:variant>
      <vt:variant>
        <vt:lpstr>Teema</vt:lpstr>
      </vt:variant>
      <vt:variant>
        <vt:i4>1</vt:i4>
      </vt:variant>
      <vt:variant>
        <vt:lpstr>Dian otsikot</vt:lpstr>
      </vt:variant>
      <vt:variant>
        <vt:i4>5</vt:i4>
      </vt:variant>
    </vt:vector>
  </HeadingPairs>
  <TitlesOfParts>
    <vt:vector size="10" baseType="lpstr">
      <vt:lpstr>Arial</vt:lpstr>
      <vt:lpstr>Calibri</vt:lpstr>
      <vt:lpstr>Century Gothic</vt:lpstr>
      <vt:lpstr>Wingdings 3</vt:lpstr>
      <vt:lpstr>Sektori</vt:lpstr>
      <vt:lpstr>PowerPoint-esitys</vt:lpstr>
      <vt:lpstr>PowerPoint-esitys</vt:lpstr>
      <vt:lpstr>PowerPoint-esitys</vt:lpstr>
      <vt:lpstr>PowerPoint-esitys</vt:lpstr>
      <vt:lpstr>PowerPoint-esitys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Pedestrian Detection: Faster R-CNN vs RetinaNet</dc:title>
  <dc:subject>PptxGenJS Presentation</dc:subject>
  <dc:creator>PptxGenJS</dc:creator>
  <cp:lastModifiedBy>Arttu Kuitunen</cp:lastModifiedBy>
  <cp:revision>2</cp:revision>
  <dcterms:created xsi:type="dcterms:W3CDTF">2026-03-03T20:16:53Z</dcterms:created>
  <dcterms:modified xsi:type="dcterms:W3CDTF">2026-03-03T21:13:35Z</dcterms:modified>
</cp:coreProperties>
</file>